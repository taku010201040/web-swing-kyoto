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+ Heavy" charset="1" panose="020B0803020203020204"/>
      <p:regular r:id="rId21"/>
    </p:embeddedFont>
    <p:embeddedFont>
      <p:font typeface="M+" charset="1" panose="020B0503020203020204"/>
      <p:regular r:id="rId22"/>
    </p:embeddedFont>
    <p:embeddedFont>
      <p:font typeface="M+ Bold" charset="1" panose="020B0703020203020204"/>
      <p:regular r:id="rId23"/>
    </p:embeddedFont>
    <p:embeddedFont>
      <p:font typeface="Arimo" charset="1" panose="020B0604020202020204"/>
      <p:regular r:id="rId24"/>
    </p:embeddedFont>
    <p:embeddedFont>
      <p:font typeface="Mont Heavy" charset="1" panose="00000A00000000000000"/>
      <p:regular r:id="rId25"/>
    </p:embeddedFont>
    <p:embeddedFont>
      <p:font typeface="チェックポイント" charset="1" panose="02000900000000000000"/>
      <p:regular r:id="rId26"/>
    </p:embeddedFont>
    <p:embeddedFont>
      <p:font typeface="Sugar Cube べっこう飴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https://www.anotherbrain.co.jp/plateau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https://ppci-stg.anotherbrain.co.jp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gif" Type="http://schemas.openxmlformats.org/officeDocument/2006/relationships/image"/><Relationship Id="rId6" Target="https://hands-control.pages.dev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3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gif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maplibre.org/maplibre-gl-js/docs/examples/display-buildings-in-3d/" TargetMode="External" Type="http://schemas.openxmlformats.org/officeDocument/2006/relationships/hyperlink"/><Relationship Id="rId11" Target="https://deck.gl/examples/google-3d-tiles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https://project-plateau.github.io/PLATEAU-SDK-for-Unity" TargetMode="External" Type="http://schemas.openxmlformats.org/officeDocument/2006/relationships/hyperlink"/><Relationship Id="rId5" Target="https://cesium.com/learn/unity/" TargetMode="External" Type="http://schemas.openxmlformats.org/officeDocument/2006/relationships/hyperlink"/><Relationship Id="rId6" Target="https://github.com/project-PLATEAU/PLATEAU-SDK-for-Unreal" TargetMode="External" Type="http://schemas.openxmlformats.org/officeDocument/2006/relationships/hyperlink"/><Relationship Id="rId7" Target="https://sandcastle.cesium.com" TargetMode="External" Type="http://schemas.openxmlformats.org/officeDocument/2006/relationships/hyperlink"/><Relationship Id="rId8" Target="https://github.com/NASA-AMMOS/3DTilesRendererJS" TargetMode="External" Type="http://schemas.openxmlformats.org/officeDocument/2006/relationships/hyperlink"/><Relationship Id="rId9" Target="https://navara.world/examples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https://www.gsi.go.jp/sokuchikijun/jpc.html" TargetMode="External" Type="http://schemas.openxmlformats.org/officeDocument/2006/relationships/hyperlink"/><Relationship Id="rId5" Target="https://www.gsi.go.jp/buturisokuchi/grageo_geoid.htm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549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8564470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546515" y="8873268"/>
            <a:ext cx="0" cy="788904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386660" y="2914116"/>
            <a:ext cx="271578" cy="0"/>
          </a:xfrm>
          <a:prstGeom prst="line">
            <a:avLst/>
          </a:prstGeom>
          <a:ln cap="flat" w="76200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386660" y="4106980"/>
            <a:ext cx="12106535" cy="213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4800" spc="480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PLATEAU と</a:t>
            </a:r>
          </a:p>
          <a:p>
            <a:pPr algn="l">
              <a:lnSpc>
                <a:spcPts val="8640"/>
              </a:lnSpc>
            </a:pPr>
            <a:r>
              <a:rPr lang="en-US" sz="4800" spc="480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AI世代のハッカソン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06590" y="2564521"/>
            <a:ext cx="1131076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KYOTO PLATEAU HACK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89682" y="9012555"/>
            <a:ext cx="390812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Tomoyuki Hisada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86660" y="9012555"/>
            <a:ext cx="935499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240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2026.10.10 (Sat) ＠ キャンパスプラザ京都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7529" y="833277"/>
            <a:ext cx="2997378" cy="2997378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29" r="0" b="-222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94558" y="929274"/>
            <a:ext cx="3086100" cy="2025253"/>
            <a:chOff x="0" y="0"/>
            <a:chExt cx="8128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FF200">
                <a:alpha val="6000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80723" y="6135672"/>
            <a:ext cx="3086100" cy="2025253"/>
            <a:chOff x="0" y="0"/>
            <a:chExt cx="8128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8128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FFF200">
                <a:alpha val="6000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38100" y="41275"/>
              <a:ext cx="7366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78954" y="4878288"/>
            <a:ext cx="12469758" cy="1305009"/>
            <a:chOff x="0" y="0"/>
            <a:chExt cx="3284216" cy="3437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84216" cy="343706"/>
            </a:xfrm>
            <a:custGeom>
              <a:avLst/>
              <a:gdLst/>
              <a:ahLst/>
              <a:cxnLst/>
              <a:rect r="r" b="b" t="t" l="l"/>
              <a:pathLst>
                <a:path h="343706" w="3284216">
                  <a:moveTo>
                    <a:pt x="0" y="0"/>
                  </a:moveTo>
                  <a:lnTo>
                    <a:pt x="3284216" y="0"/>
                  </a:lnTo>
                  <a:lnTo>
                    <a:pt x="3284216" y="343706"/>
                  </a:lnTo>
                  <a:lnTo>
                    <a:pt x="0" y="343706"/>
                  </a:lnTo>
                  <a:close/>
                </a:path>
              </a:pathLst>
            </a:custGeom>
            <a:gradFill rotWithShape="true">
              <a:gsLst>
                <a:gs pos="0">
                  <a:srgbClr val="FDFDFD">
                    <a:alpha val="100000"/>
                  </a:srgbClr>
                </a:gs>
                <a:gs pos="50000">
                  <a:srgbClr val="A6FFCA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3284216" cy="410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35825" y="6628928"/>
            <a:ext cx="7989129" cy="286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その後ハッカソンの運営・参加・お手伝い</a:t>
            </a:r>
          </a:p>
          <a:p>
            <a:pPr algn="l">
              <a:lnSpc>
                <a:spcPts val="3000"/>
              </a:lnSpc>
            </a:pPr>
            <a:r>
              <a:rPr lang="en-US" sz="2000" spc="20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(</a:t>
            </a:r>
            <a:r>
              <a:rPr lang="en-US" sz="2000" spc="200" u="sng">
                <a:solidFill>
                  <a:srgbClr val="2863AF"/>
                </a:solidFill>
                <a:latin typeface="M+"/>
                <a:ea typeface="M+"/>
                <a:cs typeface="M+"/>
                <a:sym typeface="M+"/>
                <a:hlinkClick r:id="rId5" tooltip="https://www.anotherbrain.co.jp/plateau"/>
              </a:rPr>
              <a:t>ハッカソン、メンター、LT司会等 それぞれ 10回〜</a:t>
            </a:r>
            <a:r>
              <a:rPr lang="en-US" sz="2000" spc="20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）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2024年に </a:t>
            </a:r>
          </a:p>
          <a:p>
            <a:pPr algn="l">
              <a:lnSpc>
                <a:spcPts val="3900"/>
              </a:lnSpc>
            </a:pPr>
            <a:r>
              <a:rPr lang="en-US" sz="2600" spc="260" b="true">
                <a:solidFill>
                  <a:srgbClr val="2863AF"/>
                </a:solidFill>
                <a:latin typeface="M+ Bold"/>
                <a:ea typeface="M+ Bold"/>
                <a:cs typeface="M+ Bold"/>
                <a:sym typeface="M+ Bold"/>
              </a:rPr>
              <a:t>Project PLATEAU ADVOCATE</a:t>
            </a: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 を</a:t>
            </a: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拝命するに至りました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7529" y="3944881"/>
            <a:ext cx="3238500" cy="59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  <a:spcBef>
                <a:spcPct val="0"/>
              </a:spcBef>
            </a:pPr>
            <a:r>
              <a:rPr lang="en-US" b="true" sz="3311" spc="331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久田（ひさだ）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86847" y="690245"/>
            <a:ext cx="8114306" cy="396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2020年度末になんとなく</a:t>
            </a: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第1回のハッカソンに参加してから</a:t>
            </a: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(準グランプリ TOKYO SURVIVAL）</a:t>
            </a: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大好きになった PLATEAU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当時は情報もびっくりするほど少なく</a:t>
            </a:r>
          </a:p>
          <a:p>
            <a:pPr algn="l">
              <a:lnSpc>
                <a:spcPts val="3900"/>
              </a:lnSpc>
            </a:pP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開発環境等もびっくりするほどPoorで</a:t>
            </a:r>
          </a:p>
          <a:p>
            <a:pPr algn="l">
              <a:lnSpc>
                <a:spcPts val="3900"/>
              </a:lnSpc>
            </a:pPr>
            <a:r>
              <a:rPr lang="en-US" sz="2600" spc="260" b="true">
                <a:solidFill>
                  <a:srgbClr val="2863AF"/>
                </a:solidFill>
                <a:latin typeface="M+ Bold"/>
                <a:ea typeface="M+ Bold"/>
                <a:cs typeface="M+ Bold"/>
                <a:sym typeface="M+ Bold"/>
              </a:rPr>
              <a:t>手探りだらけのハッカソン</a:t>
            </a:r>
            <a:r>
              <a:rPr lang="en-US" sz="2600" spc="26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でした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25393" y="4993698"/>
            <a:ext cx="11733907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799" spc="27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それはそれで楽しかったですが、時代は大きく変わってきましたね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799" spc="27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AIの進化も本当にすごい。本日も何ができるか楽しみ</a:t>
            </a:r>
          </a:p>
        </p:txBody>
      </p:sp>
      <p:sp>
        <p:nvSpPr>
          <p:cNvPr name="TextBox 23" id="23"/>
          <p:cNvSpPr txBox="true"/>
          <p:nvPr/>
        </p:nvSpPr>
        <p:spPr>
          <a:xfrm rot="-604307">
            <a:off x="11745730" y="1332160"/>
            <a:ext cx="294719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思い起こせば</a:t>
            </a:r>
          </a:p>
          <a:p>
            <a:pPr algn="ct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コロナ禍の</a:t>
            </a:r>
          </a:p>
          <a:p>
            <a:pPr algn="ct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リモート開催</a:t>
            </a:r>
          </a:p>
        </p:txBody>
      </p:sp>
      <p:sp>
        <p:nvSpPr>
          <p:cNvPr name="TextBox 24" id="24"/>
          <p:cNvSpPr txBox="true"/>
          <p:nvPr/>
        </p:nvSpPr>
        <p:spPr>
          <a:xfrm rot="-604307">
            <a:off x="3331894" y="6748108"/>
            <a:ext cx="294719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2024,25,26</a:t>
            </a:r>
          </a:p>
          <a:p>
            <a:pPr algn="ct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ADVOCATE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79255" y="650557"/>
            <a:ext cx="159800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2026年7月ごろに、京都駅前データで遊びたくてつくってみたもの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1645" y="8362512"/>
            <a:ext cx="1458471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AIとその周辺の進化は速すぎる恐ろしいし楽しい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今これを作るなら、当時の三分の一〜五分の一の作業で作れそう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487536" y="3714222"/>
            <a:ext cx="10250515" cy="5362536"/>
          </a:xfrm>
          <a:custGeom>
            <a:avLst/>
            <a:gdLst/>
            <a:ahLst/>
            <a:cxnLst/>
            <a:rect r="r" b="b" t="t" l="l"/>
            <a:pathLst>
              <a:path h="5362536" w="10250515">
                <a:moveTo>
                  <a:pt x="0" y="0"/>
                </a:moveTo>
                <a:lnTo>
                  <a:pt x="10250515" y="0"/>
                </a:lnTo>
                <a:lnTo>
                  <a:pt x="10250515" y="5362535"/>
                </a:lnTo>
                <a:lnTo>
                  <a:pt x="0" y="5362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753" t="-21898" r="-57685" b="-4858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40598" y="3150403"/>
            <a:ext cx="2971788" cy="3032436"/>
          </a:xfrm>
          <a:custGeom>
            <a:avLst/>
            <a:gdLst/>
            <a:ahLst/>
            <a:cxnLst/>
            <a:rect r="r" b="b" t="t" l="l"/>
            <a:pathLst>
              <a:path h="3032436" w="2971788">
                <a:moveTo>
                  <a:pt x="0" y="0"/>
                </a:moveTo>
                <a:lnTo>
                  <a:pt x="2971788" y="0"/>
                </a:lnTo>
                <a:lnTo>
                  <a:pt x="2971788" y="3032436"/>
                </a:lnTo>
                <a:lnTo>
                  <a:pt x="0" y="303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9255" y="650557"/>
            <a:ext cx="1245879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2026年8月：最近のハッカソンでつくってみたもの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6465184">
            <a:off x="2001642" y="3981826"/>
            <a:ext cx="2971788" cy="3032436"/>
          </a:xfrm>
          <a:custGeom>
            <a:avLst/>
            <a:gdLst/>
            <a:ahLst/>
            <a:cxnLst/>
            <a:rect r="r" b="b" t="t" l="l"/>
            <a:pathLst>
              <a:path h="3032436" w="2971788">
                <a:moveTo>
                  <a:pt x="0" y="0"/>
                </a:moveTo>
                <a:lnTo>
                  <a:pt x="2971788" y="0"/>
                </a:lnTo>
                <a:lnTo>
                  <a:pt x="2971788" y="3032436"/>
                </a:lnTo>
                <a:lnTo>
                  <a:pt x="0" y="303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93624" y="9191625"/>
            <a:ext cx="6963529" cy="49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 u="sng">
                <a:solidFill>
                  <a:srgbClr val="2863AF"/>
                </a:solidFill>
                <a:latin typeface="Arimo"/>
                <a:ea typeface="Arimo"/>
                <a:cs typeface="Arimo"/>
                <a:sym typeface="Arimo"/>
              </a:rPr>
              <a:t>試作段階 </a:t>
            </a:r>
            <a:r>
              <a:rPr lang="en-US" sz="2876" u="sng">
                <a:solidFill>
                  <a:srgbClr val="2863AF"/>
                </a:solidFill>
                <a:latin typeface="Arimo"/>
                <a:ea typeface="Arimo"/>
                <a:cs typeface="Arimo"/>
                <a:sym typeface="Arimo"/>
                <a:hlinkClick r:id="rId7" tooltip="https://ppci-stg.anotherbrain.co.jp"/>
              </a:rPr>
              <a:t>https://ppci-stg.anotherbrain.co.jp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7094" y="1597481"/>
            <a:ext cx="13353813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よくある PLATEAU のユースケースな</a:t>
            </a:r>
          </a:p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ゲーム・シミュレーション系ではない視点からの</a:t>
            </a:r>
          </a:p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アイデア発想でつくってみたもの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198748" y="-9814268"/>
            <a:ext cx="32063082" cy="2538327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7026939" y="2877368"/>
            <a:ext cx="3611709" cy="3611709"/>
          </a:xfrm>
          <a:custGeom>
            <a:avLst/>
            <a:gdLst/>
            <a:ahLst/>
            <a:cxnLst/>
            <a:rect r="r" b="b" t="t" l="l"/>
            <a:pathLst>
              <a:path h="3611709" w="3611709">
                <a:moveTo>
                  <a:pt x="0" y="0"/>
                </a:moveTo>
                <a:lnTo>
                  <a:pt x="3611709" y="0"/>
                </a:lnTo>
                <a:lnTo>
                  <a:pt x="3611709" y="3611710"/>
                </a:lnTo>
                <a:lnTo>
                  <a:pt x="0" y="3611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6837103" y="4754412"/>
            <a:ext cx="4010598" cy="80604"/>
          </a:xfrm>
          <a:prstGeom prst="line">
            <a:avLst/>
          </a:prstGeom>
          <a:ln cap="flat" w="95250">
            <a:solidFill>
              <a:srgbClr val="FFF2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8572845" y="1028700"/>
            <a:ext cx="519897" cy="51989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045240" y="6867287"/>
            <a:ext cx="11575107" cy="222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1"/>
              </a:lnSpc>
            </a:pPr>
            <a:r>
              <a:rPr lang="en-US" sz="5793" b="true">
                <a:solidFill>
                  <a:srgbClr val="E60020"/>
                </a:solidFill>
                <a:latin typeface="Mont Heavy"/>
                <a:ea typeface="Mont Heavy"/>
                <a:cs typeface="Mont Heavy"/>
                <a:sym typeface="Mont Heavy"/>
              </a:rPr>
              <a:t>PLATEAU </a:t>
            </a:r>
          </a:p>
          <a:p>
            <a:pPr algn="ctr">
              <a:lnSpc>
                <a:spcPts val="8111"/>
              </a:lnSpc>
              <a:spcBef>
                <a:spcPct val="0"/>
              </a:spcBef>
            </a:pPr>
            <a:r>
              <a:rPr lang="en-US" b="true" sz="5793">
                <a:solidFill>
                  <a:srgbClr val="E60020"/>
                </a:solidFill>
                <a:latin typeface="Mont Heavy"/>
                <a:ea typeface="Mont Heavy"/>
                <a:cs typeface="Mont Heavy"/>
                <a:sym typeface="Mont Heavy"/>
              </a:rPr>
              <a:t>WebCam 3D  Hands Controller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196" y="478929"/>
            <a:ext cx="7268901" cy="830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spc="403">
                <a:solidFill>
                  <a:srgbClr val="000000"/>
                </a:solidFill>
                <a:latin typeface="チェックポイント"/>
                <a:ea typeface="チェックポイント"/>
                <a:cs typeface="チェックポイント"/>
                <a:sym typeface="チェックポイント"/>
              </a:rPr>
              <a:t>プロトタイピングが得意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43102" y="9163050"/>
            <a:ext cx="6379382" cy="641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6" tooltip="https://hands-control.pages.dev"/>
              </a:rPr>
              <a:t>https://hands-control.pages.dev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0169474" y="-9462078"/>
            <a:ext cx="32063082" cy="25383273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865419" y="1380889"/>
            <a:ext cx="4012512" cy="5460378"/>
            <a:chOff x="0" y="0"/>
            <a:chExt cx="5350016" cy="72805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54391" y="2464891"/>
              <a:ext cx="4815612" cy="4815612"/>
            </a:xfrm>
            <a:custGeom>
              <a:avLst/>
              <a:gdLst/>
              <a:ahLst/>
              <a:cxnLst/>
              <a:rect r="r" b="b" t="t" l="l"/>
              <a:pathLst>
                <a:path h="4815612" w="4815612">
                  <a:moveTo>
                    <a:pt x="0" y="0"/>
                  </a:moveTo>
                  <a:lnTo>
                    <a:pt x="4815612" y="0"/>
                  </a:lnTo>
                  <a:lnTo>
                    <a:pt x="4815612" y="4815613"/>
                  </a:lnTo>
                  <a:lnTo>
                    <a:pt x="0" y="4815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5" id="5"/>
            <p:cNvSpPr/>
            <p:nvPr/>
          </p:nvSpPr>
          <p:spPr>
            <a:xfrm>
              <a:off x="1276" y="4967616"/>
              <a:ext cx="5347464" cy="107473"/>
            </a:xfrm>
            <a:prstGeom prst="line">
              <a:avLst/>
            </a:prstGeom>
            <a:ln cap="flat" w="127000">
              <a:solidFill>
                <a:srgbClr val="FFF200"/>
              </a:solidFill>
              <a:prstDash val="solid"/>
              <a:headEnd type="none" len="sm" w="sm"/>
              <a:tailEnd type="none" len="sm" w="sm"/>
            </a:ln>
          </p:spPr>
        </p:sp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0" r="0" b="0"/>
            <a:stretch>
              <a:fillRect/>
            </a:stretch>
          </p:blipFill>
          <p:spPr>
            <a:xfrm flipH="false" flipV="false" rot="0">
              <a:off x="2315599" y="0"/>
              <a:ext cx="693196" cy="693196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true" rot="-1189962">
            <a:off x="6724149" y="301663"/>
            <a:ext cx="4686238" cy="2694587"/>
          </a:xfrm>
          <a:custGeom>
            <a:avLst/>
            <a:gdLst/>
            <a:ahLst/>
            <a:cxnLst/>
            <a:rect r="r" b="b" t="t" l="l"/>
            <a:pathLst>
              <a:path h="2694587" w="4686238">
                <a:moveTo>
                  <a:pt x="0" y="2694587"/>
                </a:moveTo>
                <a:lnTo>
                  <a:pt x="4686238" y="2694587"/>
                </a:lnTo>
                <a:lnTo>
                  <a:pt x="4686238" y="0"/>
                </a:lnTo>
                <a:lnTo>
                  <a:pt x="0" y="0"/>
                </a:lnTo>
                <a:lnTo>
                  <a:pt x="0" y="269458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31536" y="5587839"/>
            <a:ext cx="5757060" cy="1993382"/>
          </a:xfrm>
          <a:custGeom>
            <a:avLst/>
            <a:gdLst/>
            <a:ahLst/>
            <a:cxnLst/>
            <a:rect r="r" b="b" t="t" l="l"/>
            <a:pathLst>
              <a:path h="1993382" w="5757060">
                <a:moveTo>
                  <a:pt x="0" y="0"/>
                </a:moveTo>
                <a:lnTo>
                  <a:pt x="5757060" y="0"/>
                </a:lnTo>
                <a:lnTo>
                  <a:pt x="5757060" y="1993382"/>
                </a:lnTo>
                <a:lnTo>
                  <a:pt x="0" y="1993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31536" y="3505738"/>
            <a:ext cx="5757060" cy="1993382"/>
          </a:xfrm>
          <a:custGeom>
            <a:avLst/>
            <a:gdLst/>
            <a:ahLst/>
            <a:cxnLst/>
            <a:rect r="r" b="b" t="t" l="l"/>
            <a:pathLst>
              <a:path h="1993382" w="5757060">
                <a:moveTo>
                  <a:pt x="0" y="0"/>
                </a:moveTo>
                <a:lnTo>
                  <a:pt x="5757060" y="0"/>
                </a:lnTo>
                <a:lnTo>
                  <a:pt x="5757060" y="1993382"/>
                </a:lnTo>
                <a:lnTo>
                  <a:pt x="0" y="19933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6279" r="0" b="-2534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064073">
            <a:off x="10800413" y="592583"/>
            <a:ext cx="1957616" cy="1875752"/>
          </a:xfrm>
          <a:custGeom>
            <a:avLst/>
            <a:gdLst/>
            <a:ahLst/>
            <a:cxnLst/>
            <a:rect r="r" b="b" t="t" l="l"/>
            <a:pathLst>
              <a:path h="1875752" w="1957616">
                <a:moveTo>
                  <a:pt x="0" y="0"/>
                </a:moveTo>
                <a:lnTo>
                  <a:pt x="1957616" y="0"/>
                </a:lnTo>
                <a:lnTo>
                  <a:pt x="1957616" y="1875752"/>
                </a:lnTo>
                <a:lnTo>
                  <a:pt x="0" y="18757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8196" y="240804"/>
            <a:ext cx="4094059" cy="131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b="true" sz="6400">
                <a:solidFill>
                  <a:srgbClr val="000000"/>
                </a:solidFill>
                <a:latin typeface="Mont Heavy"/>
                <a:ea typeface="Mont Heavy"/>
                <a:cs typeface="Mont Heavy"/>
                <a:sym typeface="Mont Heavy"/>
              </a:rPr>
              <a:t>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-1408397">
            <a:off x="7207196" y="741909"/>
            <a:ext cx="3805316" cy="165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1"/>
              </a:lnSpc>
            </a:pPr>
            <a:r>
              <a:rPr lang="en-US" sz="4522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必要なのは</a:t>
            </a:r>
          </a:p>
          <a:p>
            <a:pPr algn="ctr">
              <a:lnSpc>
                <a:spcPts val="6331"/>
              </a:lnSpc>
              <a:spcBef>
                <a:spcPct val="0"/>
              </a:spcBef>
            </a:pPr>
            <a:r>
              <a:rPr lang="en-US" sz="4522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これだけ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71950" y="7676471"/>
            <a:ext cx="4620374" cy="176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ひたすら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チューニング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44988" y="1458456"/>
            <a:ext cx="4620374" cy="176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799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画像から手指を</a:t>
            </a:r>
          </a:p>
          <a:p>
            <a:pPr algn="r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000000"/>
                </a:solidFill>
                <a:latin typeface="Sugar Cube べっこう飴"/>
                <a:ea typeface="Sugar Cube べっこう飴"/>
                <a:cs typeface="Sugar Cube べっこう飴"/>
                <a:sym typeface="Sugar Cube べっこう飴"/>
              </a:rPr>
              <a:t>機械学習検出し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9250884">
            <a:off x="16109724" y="7204960"/>
            <a:ext cx="1842602" cy="1765547"/>
          </a:xfrm>
          <a:custGeom>
            <a:avLst/>
            <a:gdLst/>
            <a:ahLst/>
            <a:cxnLst/>
            <a:rect r="r" b="b" t="t" l="l"/>
            <a:pathLst>
              <a:path h="1765547" w="1842602">
                <a:moveTo>
                  <a:pt x="0" y="0"/>
                </a:moveTo>
                <a:lnTo>
                  <a:pt x="1842602" y="0"/>
                </a:lnTo>
                <a:lnTo>
                  <a:pt x="1842602" y="1765547"/>
                </a:lnTo>
                <a:lnTo>
                  <a:pt x="0" y="1765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184210" y="1565080"/>
            <a:ext cx="11308875" cy="804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5200"/>
              </a:lnSpc>
              <a:buAutoNum type="arabicPeriod" startAt="1"/>
            </a:pPr>
            <a:r>
              <a:rPr lang="en-US" b="true" sz="2600" spc="26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まず、と</a:t>
            </a:r>
            <a:r>
              <a:rPr lang="en-US" b="true" sz="2600" spc="26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にかく一番小さく試す</a:t>
            </a:r>
          </a:p>
          <a:p>
            <a:pPr algn="l" marL="949972" indent="-316657" lvl="2">
              <a:lnSpc>
                <a:spcPts val="4400"/>
              </a:lnSpc>
              <a:buAutoNum type="alpha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CityGMLからの変換や、その後の編集・表示においても、3D都市モデルのデータサイズに応じパソコンでの処理速度が大きく変わる</a:t>
            </a:r>
          </a:p>
          <a:p>
            <a:pPr algn="l" marL="949972" indent="-316657" lvl="2">
              <a:lnSpc>
                <a:spcPts val="4400"/>
              </a:lnSpc>
              <a:buAutoNum type="alpha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Try and Error が続く最初の一歩は、開発を時短するためにも、まずは一番小さく試せるサイズで処理させて「あたり」をつけよう</a:t>
            </a:r>
          </a:p>
          <a:p>
            <a:pPr algn="l" marL="561344" indent="-280672" lvl="1">
              <a:lnSpc>
                <a:spcPts val="5200"/>
              </a:lnSpc>
              <a:buAutoNum type="arabicPeriod" startAt="1"/>
            </a:pPr>
            <a:r>
              <a:rPr lang="en-US" b="true" sz="2600" spc="260">
                <a:solidFill>
                  <a:srgbClr val="2863AF"/>
                </a:solidFill>
                <a:latin typeface="M+ Bold"/>
                <a:ea typeface="M+ Bold"/>
                <a:cs typeface="M+ Bold"/>
                <a:sym typeface="M+ Bold"/>
              </a:rPr>
              <a:t>京都はラッキー？盆地の真ん中は平ら</a:t>
            </a:r>
          </a:p>
          <a:p>
            <a:pPr algn="l" marL="949972" indent="-316657" lvl="2">
              <a:lnSpc>
                <a:spcPts val="4400"/>
              </a:lnSpc>
              <a:buAutoNum type="alpha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京都駅前や中心部は、ほとんど地面の起伏がありません</a:t>
            </a:r>
          </a:p>
          <a:p>
            <a:pPr algn="l" marL="949972" indent="-316657" lvl="2">
              <a:lnSpc>
                <a:spcPts val="4400"/>
              </a:lnSpc>
              <a:buAutoNum type="alpha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ハッカソンはプロトタイプ、坂道や山と関係ない作品をつくるなら、一旦 Terrain (地形) を忘れて、地面を平面として処理するのも時短になるかも</a:t>
            </a:r>
          </a:p>
          <a:p>
            <a:pPr algn="l" marL="1424958" indent="-356239" lvl="3">
              <a:lnSpc>
                <a:spcPts val="4400"/>
              </a:lnSpc>
              <a:buAutoNum type="roman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Terrain の処理も案外時間がかかります</a:t>
            </a:r>
          </a:p>
          <a:p>
            <a:pPr algn="l" marL="518165" indent="-259082" lvl="1">
              <a:lnSpc>
                <a:spcPts val="4800"/>
              </a:lnSpc>
              <a:buAutoNum type="arabicPeriod" startAt="1"/>
            </a:pPr>
            <a:r>
              <a:rPr lang="en-US" b="true" sz="2400" spc="240">
                <a:solidFill>
                  <a:srgbClr val="2863AF"/>
                </a:solidFill>
                <a:latin typeface="M+ Bold"/>
                <a:ea typeface="M+ Bold"/>
                <a:cs typeface="M+ Bold"/>
                <a:sym typeface="M+ Bold"/>
              </a:rPr>
              <a:t>JavaScript (ThreeJS, Navara, Maplibre や CesiumJS), Cesium for Unity をつかうなら</a:t>
            </a:r>
          </a:p>
          <a:p>
            <a:pPr algn="l" marL="949972" indent="-316657" lvl="2">
              <a:lnSpc>
                <a:spcPts val="4400"/>
              </a:lnSpc>
              <a:spcBef>
                <a:spcPct val="0"/>
              </a:spcBef>
              <a:buAutoNum type="alphaLcPeriod" startAt="1"/>
            </a:pPr>
            <a:r>
              <a:rPr lang="en-US" sz="2200" spc="220">
                <a:solidFill>
                  <a:srgbClr val="2863AF"/>
                </a:solidFill>
                <a:latin typeface="M+"/>
                <a:ea typeface="M+"/>
                <a:cs typeface="M+"/>
                <a:sym typeface="M+"/>
              </a:rPr>
              <a:t>CityGML から 3D都市モデルを変換するのではなく、ストリーミングされている 3D Tiles / MVT 直接利用で作れないかも考える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921711" y="1880235"/>
            <a:ext cx="4448485" cy="3283538"/>
          </a:xfrm>
          <a:custGeom>
            <a:avLst/>
            <a:gdLst/>
            <a:ahLst/>
            <a:cxnLst/>
            <a:rect r="r" b="b" t="t" l="l"/>
            <a:pathLst>
              <a:path h="3283538" w="4448485">
                <a:moveTo>
                  <a:pt x="0" y="0"/>
                </a:moveTo>
                <a:lnTo>
                  <a:pt x="4448484" y="0"/>
                </a:lnTo>
                <a:lnTo>
                  <a:pt x="4448484" y="3283538"/>
                </a:lnTo>
                <a:lnTo>
                  <a:pt x="0" y="3283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79255" y="650557"/>
            <a:ext cx="1371088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PLATEAU 3D都市モデルをハッカソンで取り扱うコツ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279255" y="650557"/>
            <a:ext cx="1245879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PLATEAU GIS Converter も便利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9236" y="8116986"/>
            <a:ext cx="653802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PLATEAU ロゴもあって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こっちが公式っぽいのだけど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5806" y="8116986"/>
            <a:ext cx="704091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最新はこっちなのでかるく注意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 spc="359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両方 MIERUNE さんの開発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98305" y="1899285"/>
            <a:ext cx="1919913" cy="1910314"/>
          </a:xfrm>
          <a:custGeom>
            <a:avLst/>
            <a:gdLst/>
            <a:ahLst/>
            <a:cxnLst/>
            <a:rect r="r" b="b" t="t" l="l"/>
            <a:pathLst>
              <a:path h="1910314" w="1919913">
                <a:moveTo>
                  <a:pt x="0" y="0"/>
                </a:moveTo>
                <a:lnTo>
                  <a:pt x="1919914" y="0"/>
                </a:lnTo>
                <a:lnTo>
                  <a:pt x="1919914" y="1910314"/>
                </a:lnTo>
                <a:lnTo>
                  <a:pt x="0" y="1910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9255" y="650557"/>
            <a:ext cx="1496778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Navara - 2026.8月末リリース PLATEAU VIEW の Engine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25825" y="1784985"/>
            <a:ext cx="6212211" cy="59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Web系 (JavaScript) の技術者が多く、それで進めるならおすすめ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ThreeJS なので、ゲームっぽい展開も、CesiumJS より捗る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国産なのでドキュメント類が日本語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新しいためネットでの開発に関する情報は少なめ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でも Skills が割といい仕事してくれる手応えがあるよ (with AI)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新しいのでまだバギーなところもあるかもしれないけど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この木曜日にも v0.1.0 → v0.2.0 にアップデートされててアツイ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34" y="7922895"/>
            <a:ext cx="5811366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32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〜 ハッカソン 〜</a:t>
            </a:r>
          </a:p>
          <a:p>
            <a:pPr algn="ctr">
              <a:lnSpc>
                <a:spcPts val="4480"/>
              </a:lnSpc>
            </a:pPr>
            <a:r>
              <a:rPr lang="en-US" b="true" sz="3200" spc="32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新しい技術と遊びたいヒトは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spc="32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ぜひこの機会にチャレンジ！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7024" y="306505"/>
            <a:ext cx="17593952" cy="9673990"/>
            <a:chOff x="0" y="0"/>
            <a:chExt cx="4668909" cy="2567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8910" cy="2567188"/>
            </a:xfrm>
            <a:custGeom>
              <a:avLst/>
              <a:gdLst/>
              <a:ahLst/>
              <a:cxnLst/>
              <a:rect r="r" b="b" t="t" l="l"/>
              <a:pathLst>
                <a:path h="2567188" w="4668910">
                  <a:moveTo>
                    <a:pt x="0" y="0"/>
                  </a:moveTo>
                  <a:lnTo>
                    <a:pt x="4668910" y="0"/>
                  </a:lnTo>
                  <a:lnTo>
                    <a:pt x="4668910" y="2567188"/>
                  </a:lnTo>
                  <a:lnTo>
                    <a:pt x="0" y="25671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68909" cy="261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685" y="456878"/>
            <a:ext cx="583052" cy="9373244"/>
            <a:chOff x="0" y="0"/>
            <a:chExt cx="777403" cy="124976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7"/>
                  </a:lnTo>
                  <a:lnTo>
                    <a:pt x="0" y="6196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300972"/>
              <a:ext cx="777403" cy="6196687"/>
            </a:xfrm>
            <a:custGeom>
              <a:avLst/>
              <a:gdLst/>
              <a:ahLst/>
              <a:cxnLst/>
              <a:rect r="r" b="b" t="t" l="l"/>
              <a:pathLst>
                <a:path h="6196687" w="777403">
                  <a:moveTo>
                    <a:pt x="0" y="0"/>
                  </a:moveTo>
                  <a:lnTo>
                    <a:pt x="777403" y="0"/>
                  </a:lnTo>
                  <a:lnTo>
                    <a:pt x="777403" y="6196686"/>
                  </a:lnTo>
                  <a:lnTo>
                    <a:pt x="0" y="619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40112" y="1589722"/>
            <a:ext cx="16518239" cy="0"/>
          </a:xfrm>
          <a:prstGeom prst="line">
            <a:avLst/>
          </a:prstGeom>
          <a:ln cap="flat" w="28575">
            <a:solidFill>
              <a:srgbClr val="E600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850835" y="2008135"/>
            <a:ext cx="6314956" cy="3908107"/>
            <a:chOff x="0" y="0"/>
            <a:chExt cx="1663198" cy="10292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63198" cy="1029296"/>
            </a:xfrm>
            <a:custGeom>
              <a:avLst/>
              <a:gdLst/>
              <a:ahLst/>
              <a:cxnLst/>
              <a:rect r="r" b="b" t="t" l="l"/>
              <a:pathLst>
                <a:path h="1029296" w="1663198">
                  <a:moveTo>
                    <a:pt x="62065" y="0"/>
                  </a:moveTo>
                  <a:lnTo>
                    <a:pt x="1601134" y="0"/>
                  </a:lnTo>
                  <a:cubicBezTo>
                    <a:pt x="1617594" y="0"/>
                    <a:pt x="1633381" y="6539"/>
                    <a:pt x="1645020" y="18178"/>
                  </a:cubicBezTo>
                  <a:cubicBezTo>
                    <a:pt x="1656659" y="29818"/>
                    <a:pt x="1663198" y="45604"/>
                    <a:pt x="1663198" y="62065"/>
                  </a:cubicBezTo>
                  <a:lnTo>
                    <a:pt x="1663198" y="967231"/>
                  </a:lnTo>
                  <a:cubicBezTo>
                    <a:pt x="1663198" y="1001508"/>
                    <a:pt x="1635411" y="1029296"/>
                    <a:pt x="1601134" y="1029296"/>
                  </a:cubicBezTo>
                  <a:lnTo>
                    <a:pt x="62065" y="1029296"/>
                  </a:lnTo>
                  <a:cubicBezTo>
                    <a:pt x="27787" y="1029296"/>
                    <a:pt x="0" y="1001508"/>
                    <a:pt x="0" y="967231"/>
                  </a:cubicBezTo>
                  <a:lnTo>
                    <a:pt x="0" y="62065"/>
                  </a:lnTo>
                  <a:cubicBezTo>
                    <a:pt x="0" y="27787"/>
                    <a:pt x="27787" y="0"/>
                    <a:pt x="62065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663198" cy="1095971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Unity : AI 活用は課金が命かも！？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iOS / Android App リリース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（とはいえ 3D 度合いによる）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4" tooltip="https://project-plateau.github.io/PLATEAU-SDK-for-Unity"/>
                </a:rPr>
                <a:t>PLATEAU SDK for Unity</a:t>
              </a:r>
              <a:r>
                <a:rPr lang="en-US" sz="2399" b="true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</a:rPr>
                <a:t> </a:t>
              </a: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など便利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5" tooltip="https://cesium.com/learn/unity/"/>
                </a:rPr>
                <a:t>Cesium for Unity</a:t>
              </a: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 も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AI 対応も急激に進化しているが、日本でまだ使えなかったり、なんらかに課金(多めに)した方が上手く進むかも？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79255" y="650557"/>
            <a:ext cx="2346919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359" b="true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整理整頓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7027" y="2008135"/>
            <a:ext cx="9332807" cy="7784786"/>
            <a:chOff x="0" y="0"/>
            <a:chExt cx="2458023" cy="20503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58023" cy="2050314"/>
            </a:xfrm>
            <a:custGeom>
              <a:avLst/>
              <a:gdLst/>
              <a:ahLst/>
              <a:cxnLst/>
              <a:rect r="r" b="b" t="t" l="l"/>
              <a:pathLst>
                <a:path h="2050314" w="2458023">
                  <a:moveTo>
                    <a:pt x="41995" y="0"/>
                  </a:moveTo>
                  <a:lnTo>
                    <a:pt x="2416028" y="0"/>
                  </a:lnTo>
                  <a:cubicBezTo>
                    <a:pt x="2427166" y="0"/>
                    <a:pt x="2437848" y="4424"/>
                    <a:pt x="2445723" y="12300"/>
                  </a:cubicBezTo>
                  <a:cubicBezTo>
                    <a:pt x="2453599" y="20176"/>
                    <a:pt x="2458023" y="30858"/>
                    <a:pt x="2458023" y="41995"/>
                  </a:cubicBezTo>
                  <a:lnTo>
                    <a:pt x="2458023" y="2008319"/>
                  </a:lnTo>
                  <a:cubicBezTo>
                    <a:pt x="2458023" y="2019457"/>
                    <a:pt x="2453599" y="2030138"/>
                    <a:pt x="2445723" y="2038014"/>
                  </a:cubicBezTo>
                  <a:cubicBezTo>
                    <a:pt x="2437848" y="2045889"/>
                    <a:pt x="2427166" y="2050314"/>
                    <a:pt x="2416028" y="2050314"/>
                  </a:cubicBezTo>
                  <a:lnTo>
                    <a:pt x="41995" y="2050314"/>
                  </a:lnTo>
                  <a:cubicBezTo>
                    <a:pt x="30858" y="2050314"/>
                    <a:pt x="20176" y="2045889"/>
                    <a:pt x="12300" y="2038014"/>
                  </a:cubicBezTo>
                  <a:cubicBezTo>
                    <a:pt x="4424" y="2030138"/>
                    <a:pt x="0" y="2019457"/>
                    <a:pt x="0" y="2008319"/>
                  </a:cubicBezTo>
                  <a:lnTo>
                    <a:pt x="0" y="41995"/>
                  </a:lnTo>
                  <a:cubicBezTo>
                    <a:pt x="0" y="30858"/>
                    <a:pt x="4424" y="20176"/>
                    <a:pt x="12300" y="12300"/>
                  </a:cubicBezTo>
                  <a:cubicBezTo>
                    <a:pt x="20176" y="4424"/>
                    <a:pt x="30858" y="0"/>
                    <a:pt x="41995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458023" cy="2116989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Web系 : 比較的 Vibe coding / Agent と相性がいい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0835" y="6117696"/>
            <a:ext cx="6314956" cy="3675225"/>
            <a:chOff x="0" y="0"/>
            <a:chExt cx="1663198" cy="967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63198" cy="967960"/>
            </a:xfrm>
            <a:custGeom>
              <a:avLst/>
              <a:gdLst/>
              <a:ahLst/>
              <a:cxnLst/>
              <a:rect r="r" b="b" t="t" l="l"/>
              <a:pathLst>
                <a:path h="967960" w="1663198">
                  <a:moveTo>
                    <a:pt x="62065" y="0"/>
                  </a:moveTo>
                  <a:lnTo>
                    <a:pt x="1601134" y="0"/>
                  </a:lnTo>
                  <a:cubicBezTo>
                    <a:pt x="1617594" y="0"/>
                    <a:pt x="1633381" y="6539"/>
                    <a:pt x="1645020" y="18178"/>
                  </a:cubicBezTo>
                  <a:cubicBezTo>
                    <a:pt x="1656659" y="29818"/>
                    <a:pt x="1663198" y="45604"/>
                    <a:pt x="1663198" y="62065"/>
                  </a:cubicBezTo>
                  <a:lnTo>
                    <a:pt x="1663198" y="905896"/>
                  </a:lnTo>
                  <a:cubicBezTo>
                    <a:pt x="1663198" y="940173"/>
                    <a:pt x="1635411" y="967960"/>
                    <a:pt x="1601134" y="967960"/>
                  </a:cubicBezTo>
                  <a:lnTo>
                    <a:pt x="62065" y="967960"/>
                  </a:lnTo>
                  <a:cubicBezTo>
                    <a:pt x="27787" y="967960"/>
                    <a:pt x="0" y="940173"/>
                    <a:pt x="0" y="905896"/>
                  </a:cubicBezTo>
                  <a:lnTo>
                    <a:pt x="0" y="62065"/>
                  </a:lnTo>
                  <a:cubicBezTo>
                    <a:pt x="0" y="27787"/>
                    <a:pt x="27787" y="0"/>
                    <a:pt x="62065" y="0"/>
                  </a:cubicBez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63198" cy="1034635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Unreal Engine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Windows でゴリゴリ動かす美しい表現に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マシンパワー必要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3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6" tooltip="https://github.com/project-PLATEAU/PLATEAU-SDK-for-Unreal"/>
                </a:rPr>
                <a:t>PLATEAU SDK for Unreal</a:t>
              </a: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 もある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僕はあまり最近さわっていない・・・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9255" y="2781300"/>
            <a:ext cx="4630702" cy="2495550"/>
            <a:chOff x="0" y="0"/>
            <a:chExt cx="1219609" cy="6572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19609" cy="657264"/>
            </a:xfrm>
            <a:custGeom>
              <a:avLst/>
              <a:gdLst/>
              <a:ahLst/>
              <a:cxnLst/>
              <a:rect r="r" b="b" t="t" l="l"/>
              <a:pathLst>
                <a:path h="657264" w="1219609">
                  <a:moveTo>
                    <a:pt x="84638" y="0"/>
                  </a:moveTo>
                  <a:lnTo>
                    <a:pt x="1134971" y="0"/>
                  </a:lnTo>
                  <a:cubicBezTo>
                    <a:pt x="1157418" y="0"/>
                    <a:pt x="1178946" y="8917"/>
                    <a:pt x="1194819" y="24790"/>
                  </a:cubicBezTo>
                  <a:cubicBezTo>
                    <a:pt x="1210692" y="40663"/>
                    <a:pt x="1219609" y="62191"/>
                    <a:pt x="1219609" y="84638"/>
                  </a:cubicBezTo>
                  <a:lnTo>
                    <a:pt x="1219609" y="572626"/>
                  </a:lnTo>
                  <a:cubicBezTo>
                    <a:pt x="1219609" y="595073"/>
                    <a:pt x="1210692" y="616601"/>
                    <a:pt x="1194819" y="632474"/>
                  </a:cubicBezTo>
                  <a:cubicBezTo>
                    <a:pt x="1178946" y="648347"/>
                    <a:pt x="1157418" y="657264"/>
                    <a:pt x="1134971" y="657264"/>
                  </a:cubicBezTo>
                  <a:lnTo>
                    <a:pt x="84638" y="657264"/>
                  </a:lnTo>
                  <a:cubicBezTo>
                    <a:pt x="62191" y="657264"/>
                    <a:pt x="40663" y="648347"/>
                    <a:pt x="24790" y="632474"/>
                  </a:cubicBezTo>
                  <a:cubicBezTo>
                    <a:pt x="8917" y="616601"/>
                    <a:pt x="0" y="595073"/>
                    <a:pt x="0" y="572626"/>
                  </a:cubicBezTo>
                  <a:lnTo>
                    <a:pt x="0" y="84638"/>
                  </a:lnTo>
                  <a:cubicBezTo>
                    <a:pt x="0" y="62191"/>
                    <a:pt x="8917" y="40663"/>
                    <a:pt x="24790" y="24790"/>
                  </a:cubicBezTo>
                  <a:cubicBezTo>
                    <a:pt x="40663" y="8917"/>
                    <a:pt x="62191" y="0"/>
                    <a:pt x="84638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19609" cy="704889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CesiumJS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GIS 的な対応をすすめるなら最適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世の LLM もそこそこ強い対応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ゲームっぽく仕上げるのは大変かも</a:t>
              </a:r>
            </a:p>
            <a:p>
              <a:pPr algn="ctr">
                <a:lnSpc>
                  <a:spcPts val="2799"/>
                </a:lnSpc>
              </a:pPr>
              <a:r>
                <a:rPr lang="en-US" b="true" sz="19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7" tooltip="https://sandcastle.cesium.com"/>
                </a:rPr>
                <a:t>sandcastle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69666" y="3622146"/>
            <a:ext cx="4135402" cy="2495550"/>
            <a:chOff x="0" y="0"/>
            <a:chExt cx="1089159" cy="6572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9159" cy="657264"/>
            </a:xfrm>
            <a:custGeom>
              <a:avLst/>
              <a:gdLst/>
              <a:ahLst/>
              <a:cxnLst/>
              <a:rect r="r" b="b" t="t" l="l"/>
              <a:pathLst>
                <a:path h="657264" w="1089159">
                  <a:moveTo>
                    <a:pt x="94775" y="0"/>
                  </a:moveTo>
                  <a:lnTo>
                    <a:pt x="994384" y="0"/>
                  </a:lnTo>
                  <a:cubicBezTo>
                    <a:pt x="1019520" y="0"/>
                    <a:pt x="1043626" y="9985"/>
                    <a:pt x="1061400" y="27759"/>
                  </a:cubicBezTo>
                  <a:cubicBezTo>
                    <a:pt x="1079174" y="45533"/>
                    <a:pt x="1089159" y="69639"/>
                    <a:pt x="1089159" y="94775"/>
                  </a:cubicBezTo>
                  <a:lnTo>
                    <a:pt x="1089159" y="562489"/>
                  </a:lnTo>
                  <a:cubicBezTo>
                    <a:pt x="1089159" y="587625"/>
                    <a:pt x="1079174" y="611731"/>
                    <a:pt x="1061400" y="629505"/>
                  </a:cubicBezTo>
                  <a:cubicBezTo>
                    <a:pt x="1043626" y="647279"/>
                    <a:pt x="1019520" y="657264"/>
                    <a:pt x="994384" y="657264"/>
                  </a:cubicBezTo>
                  <a:lnTo>
                    <a:pt x="94775" y="657264"/>
                  </a:lnTo>
                  <a:cubicBezTo>
                    <a:pt x="69639" y="657264"/>
                    <a:pt x="45533" y="647279"/>
                    <a:pt x="27759" y="629505"/>
                  </a:cubicBezTo>
                  <a:cubicBezTo>
                    <a:pt x="9985" y="611731"/>
                    <a:pt x="0" y="587625"/>
                    <a:pt x="0" y="562489"/>
                  </a:cubicBezTo>
                  <a:lnTo>
                    <a:pt x="0" y="94775"/>
                  </a:lnTo>
                  <a:cubicBezTo>
                    <a:pt x="0" y="69639"/>
                    <a:pt x="9985" y="45533"/>
                    <a:pt x="27759" y="27759"/>
                  </a:cubicBezTo>
                  <a:cubicBezTo>
                    <a:pt x="45533" y="9985"/>
                    <a:pt x="69639" y="0"/>
                    <a:pt x="94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89159" cy="704889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ThreeJS + 3D Tiles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8" tooltip="https://github.com/NASA-AMMOS/3DTilesRendererJS"/>
                </a:rPr>
                <a:t>https://github.com/NASA-AMMOS/3DTilesRendererJS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など</a:t>
              </a: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最近また、ガンガンアップデート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4697" y="6117696"/>
            <a:ext cx="4059202" cy="3552825"/>
            <a:chOff x="0" y="0"/>
            <a:chExt cx="1069090" cy="9357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090" cy="935723"/>
            </a:xfrm>
            <a:custGeom>
              <a:avLst/>
              <a:gdLst/>
              <a:ahLst/>
              <a:cxnLst/>
              <a:rect r="r" b="b" t="t" l="l"/>
              <a:pathLst>
                <a:path h="935723" w="1069090">
                  <a:moveTo>
                    <a:pt x="96555" y="0"/>
                  </a:moveTo>
                  <a:lnTo>
                    <a:pt x="972536" y="0"/>
                  </a:lnTo>
                  <a:cubicBezTo>
                    <a:pt x="998144" y="0"/>
                    <a:pt x="1022703" y="10173"/>
                    <a:pt x="1040810" y="28280"/>
                  </a:cubicBezTo>
                  <a:cubicBezTo>
                    <a:pt x="1058918" y="46388"/>
                    <a:pt x="1069090" y="70947"/>
                    <a:pt x="1069090" y="96555"/>
                  </a:cubicBezTo>
                  <a:lnTo>
                    <a:pt x="1069090" y="839169"/>
                  </a:lnTo>
                  <a:cubicBezTo>
                    <a:pt x="1069090" y="892494"/>
                    <a:pt x="1025861" y="935723"/>
                    <a:pt x="972536" y="935723"/>
                  </a:cubicBezTo>
                  <a:lnTo>
                    <a:pt x="96555" y="935723"/>
                  </a:lnTo>
                  <a:cubicBezTo>
                    <a:pt x="70947" y="935723"/>
                    <a:pt x="46388" y="925551"/>
                    <a:pt x="28280" y="907443"/>
                  </a:cubicBezTo>
                  <a:cubicBezTo>
                    <a:pt x="10173" y="889336"/>
                    <a:pt x="0" y="864777"/>
                    <a:pt x="0" y="839169"/>
                  </a:cubicBezTo>
                  <a:lnTo>
                    <a:pt x="0" y="96555"/>
                  </a:lnTo>
                  <a:cubicBezTo>
                    <a:pt x="0" y="70947"/>
                    <a:pt x="10173" y="46388"/>
                    <a:pt x="28280" y="28280"/>
                  </a:cubicBezTo>
                  <a:cubicBezTo>
                    <a:pt x="46388" y="10173"/>
                    <a:pt x="70947" y="0"/>
                    <a:pt x="9655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69090" cy="983348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N</a:t>
              </a: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avara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期待のNew Face. フレームワーク(react etc.)とも組み合わせられなくないけれど Vannila に AI に全て任せて組むなら、ワンチャン、スムースに行く可能性も高い。チャレンジャー求む</a:t>
              </a:r>
            </a:p>
            <a:p>
              <a:pPr algn="ctr">
                <a:lnSpc>
                  <a:spcPts val="2799"/>
                </a:lnSpc>
              </a:pPr>
              <a:r>
                <a:rPr lang="en-US" b="true" sz="19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9" tooltip="https://navara.world/examples/"/>
                </a:rPr>
                <a:t>examples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657491" y="6822546"/>
            <a:ext cx="4630702" cy="2847975"/>
            <a:chOff x="0" y="0"/>
            <a:chExt cx="1219609" cy="7500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609" cy="750084"/>
            </a:xfrm>
            <a:custGeom>
              <a:avLst/>
              <a:gdLst/>
              <a:ahLst/>
              <a:cxnLst/>
              <a:rect r="r" b="b" t="t" l="l"/>
              <a:pathLst>
                <a:path h="750084" w="1219609">
                  <a:moveTo>
                    <a:pt x="84638" y="0"/>
                  </a:moveTo>
                  <a:lnTo>
                    <a:pt x="1134971" y="0"/>
                  </a:lnTo>
                  <a:cubicBezTo>
                    <a:pt x="1157418" y="0"/>
                    <a:pt x="1178946" y="8917"/>
                    <a:pt x="1194819" y="24790"/>
                  </a:cubicBezTo>
                  <a:cubicBezTo>
                    <a:pt x="1210692" y="40663"/>
                    <a:pt x="1219609" y="62191"/>
                    <a:pt x="1219609" y="84638"/>
                  </a:cubicBezTo>
                  <a:lnTo>
                    <a:pt x="1219609" y="665446"/>
                  </a:lnTo>
                  <a:cubicBezTo>
                    <a:pt x="1219609" y="687893"/>
                    <a:pt x="1210692" y="709421"/>
                    <a:pt x="1194819" y="725294"/>
                  </a:cubicBezTo>
                  <a:cubicBezTo>
                    <a:pt x="1178946" y="741167"/>
                    <a:pt x="1157418" y="750084"/>
                    <a:pt x="1134971" y="750084"/>
                  </a:cubicBezTo>
                  <a:lnTo>
                    <a:pt x="84638" y="750084"/>
                  </a:lnTo>
                  <a:cubicBezTo>
                    <a:pt x="62191" y="750084"/>
                    <a:pt x="40663" y="741167"/>
                    <a:pt x="24790" y="725294"/>
                  </a:cubicBezTo>
                  <a:cubicBezTo>
                    <a:pt x="8917" y="709421"/>
                    <a:pt x="0" y="687893"/>
                    <a:pt x="0" y="665446"/>
                  </a:cubicBezTo>
                  <a:lnTo>
                    <a:pt x="0" y="84638"/>
                  </a:lnTo>
                  <a:cubicBezTo>
                    <a:pt x="0" y="62191"/>
                    <a:pt x="8917" y="40663"/>
                    <a:pt x="24790" y="24790"/>
                  </a:cubicBezTo>
                  <a:cubicBezTo>
                    <a:pt x="40663" y="8917"/>
                    <a:pt x="62191" y="0"/>
                    <a:pt x="84638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19609" cy="797709"/>
            </a:xfrm>
            <a:prstGeom prst="rect">
              <a:avLst/>
            </a:prstGeom>
          </p:spPr>
          <p:txBody>
            <a:bodyPr anchor="t" rtlCol="false" tIns="190500" lIns="190500" bIns="190500" rIns="190500"/>
            <a:lstStyle/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MapLibreGL JS / deck.gl 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(地図表示 + データ表示)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これも面白い構成で実績も多い</a:t>
              </a:r>
            </a:p>
            <a:p>
              <a:pPr algn="ctr">
                <a:lnSpc>
                  <a:spcPts val="2799"/>
                </a:lnSpc>
              </a:pPr>
              <a:r>
                <a:rPr lang="en-US" b="true" sz="19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10" tooltip="https://maplibre.org/maplibre-gl-js/docs/examples/display-buildings-in-3d/"/>
                </a:rPr>
                <a:t>2.5D</a:t>
              </a:r>
              <a:r>
                <a:rPr lang="en-US" sz="1999" b="true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 表現などにも便利</a:t>
              </a:r>
            </a:p>
            <a:p>
              <a:pPr algn="ctr">
                <a:lnSpc>
                  <a:spcPts val="2799"/>
                </a:lnSpc>
              </a:pPr>
            </a:p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もちろん </a:t>
              </a:r>
              <a:r>
                <a:rPr lang="en-US" b="true" sz="1999" u="sng">
                  <a:solidFill>
                    <a:srgbClr val="5170FF"/>
                  </a:solidFill>
                  <a:latin typeface="M+ Bold"/>
                  <a:ea typeface="M+ Bold"/>
                  <a:cs typeface="M+ Bold"/>
                  <a:sym typeface="M+ Bold"/>
                  <a:hlinkClick r:id="rId11" tooltip="https://deck.gl/examples/google-3d-tiles"/>
                </a:rPr>
                <a:t>3D Tiles</a:t>
              </a:r>
              <a:r>
                <a:rPr lang="en-US" b="true" sz="1999">
                  <a:solidFill>
                    <a:srgbClr val="000000"/>
                  </a:solidFill>
                  <a:latin typeface="M+ Bold"/>
                  <a:ea typeface="M+ Bold"/>
                  <a:cs typeface="M+ Bold"/>
                  <a:sym typeface="M+ Bold"/>
                </a:rPr>
                <a:t> にも対応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827069" y="573405"/>
            <a:ext cx="5432231" cy="84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点群活用する？3DGSつかう？</a:t>
            </a:r>
          </a:p>
          <a:p>
            <a:pPr algn="r">
              <a:lnSpc>
                <a:spcPts val="3360"/>
              </a:lnSpc>
            </a:pPr>
            <a:r>
              <a:rPr lang="en-US" b="true" sz="2400" spc="240">
                <a:solidFill>
                  <a:srgbClr val="2863AF"/>
                </a:solidFill>
                <a:latin typeface="M+ Heavy"/>
                <a:ea typeface="M+ Heavy"/>
                <a:cs typeface="M+ Heavy"/>
                <a:sym typeface="M+ Heavy"/>
              </a:rPr>
              <a:t>なども判断要素にはなってくる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21457" y="2382562"/>
            <a:ext cx="11245085" cy="5521875"/>
          </a:xfrm>
          <a:custGeom>
            <a:avLst/>
            <a:gdLst/>
            <a:ahLst/>
            <a:cxnLst/>
            <a:rect r="r" b="b" t="t" l="l"/>
            <a:pathLst>
              <a:path h="5521875" w="11245085">
                <a:moveTo>
                  <a:pt x="0" y="0"/>
                </a:moveTo>
                <a:lnTo>
                  <a:pt x="11245086" y="0"/>
                </a:lnTo>
                <a:lnTo>
                  <a:pt x="11245086" y="5521876"/>
                </a:lnTo>
                <a:lnTo>
                  <a:pt x="0" y="5521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926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6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55" r="0" b="-20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9181" y="734132"/>
            <a:ext cx="2814196" cy="2225072"/>
            <a:chOff x="0" y="0"/>
            <a:chExt cx="741188" cy="5860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1188" cy="586027"/>
            </a:xfrm>
            <a:custGeom>
              <a:avLst/>
              <a:gdLst/>
              <a:ahLst/>
              <a:cxnLst/>
              <a:rect r="r" b="b" t="t" l="l"/>
              <a:pathLst>
                <a:path h="586027" w="741188">
                  <a:moveTo>
                    <a:pt x="0" y="0"/>
                  </a:moveTo>
                  <a:lnTo>
                    <a:pt x="741188" y="0"/>
                  </a:lnTo>
                  <a:lnTo>
                    <a:pt x="741188" y="586027"/>
                  </a:lnTo>
                  <a:lnTo>
                    <a:pt x="0" y="586027"/>
                  </a:lnTo>
                  <a:close/>
                </a:path>
              </a:pathLst>
            </a:custGeom>
            <a:ln w="76200" cap="sq">
              <a:solidFill>
                <a:srgbClr val="FFFFFF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741188" cy="633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418394">
            <a:off x="13425021" y="1364987"/>
            <a:ext cx="2000246" cy="1543199"/>
            <a:chOff x="0" y="0"/>
            <a:chExt cx="812800" cy="627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27079"/>
            </a:xfrm>
            <a:custGeom>
              <a:avLst/>
              <a:gdLst/>
              <a:ahLst/>
              <a:cxnLst/>
              <a:rect r="r" b="b" t="t" l="l"/>
              <a:pathLst>
                <a:path h="627079" w="812800">
                  <a:moveTo>
                    <a:pt x="812800" y="313539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23879"/>
                  </a:lnTo>
                  <a:lnTo>
                    <a:pt x="406400" y="423879"/>
                  </a:lnTo>
                  <a:lnTo>
                    <a:pt x="406400" y="627079"/>
                  </a:lnTo>
                  <a:lnTo>
                    <a:pt x="812800" y="31353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55575"/>
              <a:ext cx="711200" cy="268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1265" y="3119133"/>
            <a:ext cx="6282983" cy="6139167"/>
          </a:xfrm>
          <a:custGeom>
            <a:avLst/>
            <a:gdLst/>
            <a:ahLst/>
            <a:cxnLst/>
            <a:rect r="r" b="b" t="t" l="l"/>
            <a:pathLst>
              <a:path h="6139167" w="6282983">
                <a:moveTo>
                  <a:pt x="0" y="0"/>
                </a:moveTo>
                <a:lnTo>
                  <a:pt x="6282983" y="0"/>
                </a:lnTo>
                <a:lnTo>
                  <a:pt x="6282983" y="6139167"/>
                </a:lnTo>
                <a:lnTo>
                  <a:pt x="0" y="613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60044" y="3323223"/>
            <a:ext cx="6769052" cy="5313870"/>
          </a:xfrm>
          <a:custGeom>
            <a:avLst/>
            <a:gdLst/>
            <a:ahLst/>
            <a:cxnLst/>
            <a:rect r="r" b="b" t="t" l="l"/>
            <a:pathLst>
              <a:path h="5313870" w="6769052">
                <a:moveTo>
                  <a:pt x="0" y="0"/>
                </a:moveTo>
                <a:lnTo>
                  <a:pt x="6769053" y="0"/>
                </a:lnTo>
                <a:lnTo>
                  <a:pt x="6769053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81636" y="1857696"/>
            <a:ext cx="6872973" cy="50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2915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ww.gsi.go.jp/sokuchikijun/jpc.html"/>
              </a:rPr>
              <a:t>https://www.gsi.go.jp/sokuchikijun/jpc.html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1636" y="904875"/>
            <a:ext cx="6383462" cy="8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7"/>
              </a:lnSpc>
              <a:spcBef>
                <a:spcPct val="0"/>
              </a:spcBef>
            </a:pPr>
            <a:r>
              <a:rPr lang="en-US" b="true" sz="4569" spc="456">
                <a:solidFill>
                  <a:srgbClr val="000000"/>
                </a:solidFill>
                <a:latin typeface="M+ Heavy"/>
                <a:ea typeface="M+ Heavy"/>
                <a:cs typeface="M+ Heavy"/>
                <a:sym typeface="M+ Heavy"/>
              </a:rPr>
              <a:t>日本の平面直角座標系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80702" y="904875"/>
            <a:ext cx="5745138" cy="8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7"/>
              </a:lnSpc>
              <a:spcBef>
                <a:spcPct val="0"/>
              </a:spcBef>
            </a:pPr>
            <a:r>
              <a:rPr lang="en-US" b="true" sz="4569" spc="456">
                <a:solidFill>
                  <a:srgbClr val="000000"/>
                </a:solidFill>
                <a:latin typeface="M+ Heavy"/>
                <a:ea typeface="M+ Heavy"/>
                <a:cs typeface="M+ Heavy"/>
                <a:sym typeface="M+ Heavy"/>
              </a:rPr>
              <a:t>ジオイド（と標高）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77445" y="1904379"/>
            <a:ext cx="6951652" cy="41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3"/>
              </a:lnSpc>
            </a:pPr>
            <a:r>
              <a:rPr lang="en-US" sz="2295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5" tooltip="https://www.gsi.go.jp/buturisokuchi/grageo_geoid.html"/>
              </a:rPr>
              <a:t>https://www.gsi.go.jp/buturisokuchi/grageo_geoid.html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DAHXc0TUDHU</dc:identifier>
  <dcterms:modified xsi:type="dcterms:W3CDTF">2011-08-01T06:04:30Z</dcterms:modified>
  <cp:revision>1</cp:revision>
  <dc:title>PLATEAU 京都ハッカソン 2026 インプット</dc:title>
</cp:coreProperties>
</file>