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10287000" cx="18288000"/>
  <p:notesSz cx="10287000" cy="18288000"/>
  <p:embeddedFontLst>
    <p:embeddedFont>
      <p:font typeface="Noto Sans"/>
      <p:regular r:id="rId31"/>
      <p:bold r:id="rId32"/>
      <p:italic r:id="rId33"/>
      <p:boldItalic r:id="rId34"/>
    </p:embeddedFont>
    <p:embeddedFont>
      <p:font typeface="Noto Sans JP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otoSans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otoSans-italic.fntdata"/><Relationship Id="rId10" Type="http://schemas.openxmlformats.org/officeDocument/2006/relationships/slide" Target="slides/slide6.xml"/><Relationship Id="rId32" Type="http://schemas.openxmlformats.org/officeDocument/2006/relationships/font" Target="fonts/NotoSans-bold.fntdata"/><Relationship Id="rId13" Type="http://schemas.openxmlformats.org/officeDocument/2006/relationships/slide" Target="slides/slide9.xml"/><Relationship Id="rId35" Type="http://schemas.openxmlformats.org/officeDocument/2006/relationships/font" Target="fonts/NotoSansJP-regular.fntdata"/><Relationship Id="rId12" Type="http://schemas.openxmlformats.org/officeDocument/2006/relationships/slide" Target="slides/slide8.xml"/><Relationship Id="rId34" Type="http://schemas.openxmlformats.org/officeDocument/2006/relationships/font" Target="fonts/Noto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NotoSansJP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gith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pgith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gith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gith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pgith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gith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idea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pidea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idea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idea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pidea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idea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8" name="Google Shape;60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17.jpg"/><Relationship Id="rId5" Type="http://schemas.openxmlformats.org/officeDocument/2006/relationships/image" Target="../media/image1.png"/><Relationship Id="rId6" Type="http://schemas.openxmlformats.org/officeDocument/2006/relationships/image" Target="../media/image19.jp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80.png"/><Relationship Id="rId9" Type="http://schemas.openxmlformats.org/officeDocument/2006/relationships/image" Target="../media/image2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2.png"/><Relationship Id="rId6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1.png"/><Relationship Id="rId6" Type="http://schemas.openxmlformats.org/officeDocument/2006/relationships/image" Target="../media/image70.png"/><Relationship Id="rId7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Relationship Id="rId7" Type="http://schemas.openxmlformats.org/officeDocument/2006/relationships/image" Target="../media/image75.png"/><Relationship Id="rId8" Type="http://schemas.openxmlformats.org/officeDocument/2006/relationships/image" Target="../media/image7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1"/>
            <a:ext cx="18288002" cy="10285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/>
        </p:nvSpPr>
        <p:spPr>
          <a:xfrm>
            <a:off x="9144000" y="2345436"/>
            <a:ext cx="54864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DAY1</a:t>
            </a:r>
            <a:endParaRPr b="1" sz="116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5486400" y="9134856"/>
            <a:ext cx="12801600" cy="1152000"/>
          </a:xfrm>
          <a:prstGeom prst="rect">
            <a:avLst/>
          </a:prstGeom>
          <a:solidFill>
            <a:srgbClr val="0022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5806440" y="9134856"/>
            <a:ext cx="122529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B9CFE6"/>
                </a:solidFill>
                <a:latin typeface="Noto Sans JP"/>
                <a:ea typeface="Noto Sans JP"/>
                <a:cs typeface="Noto Sans JP"/>
                <a:sym typeface="Noto Sans JP"/>
              </a:rPr>
              <a:t>後援</a:t>
            </a: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　京都市　　｜　　</a:t>
            </a:r>
            <a:r>
              <a:rPr lang="en-US" sz="1500">
                <a:solidFill>
                  <a:srgbClr val="B9CFE6"/>
                </a:solidFill>
                <a:latin typeface="Noto Sans JP"/>
                <a:ea typeface="Noto Sans JP"/>
                <a:cs typeface="Noto Sans JP"/>
                <a:sym typeface="Noto Sans JP"/>
              </a:rPr>
              <a:t>協力</a:t>
            </a: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　株式会社</a:t>
            </a: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ミックウェア スペイシア</a:t>
            </a: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　・　国土交通省　・　CraftStadium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1219200" y="2921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OPENING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219200" y="3556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5"/>
          <p:cNvSpPr txBox="1"/>
          <p:nvPr/>
        </p:nvSpPr>
        <p:spPr>
          <a:xfrm>
            <a:off x="1219200" y="3810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開会のご挨拶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1219200" y="5461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10:00〜　主催　京都産業大学　平井 重行 先生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後援　京都市 都市計画局 まち再生・創造推進室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4" name="Google Shape;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7112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7112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92456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92456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2日間の流れ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1日目はインプットと開発、2日目は提出・発表・表彰です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1219200" y="2895600"/>
            <a:ext cx="73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DAY 1　10/10（土）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1219200" y="3505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インプットと開発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219200" y="48260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午前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2514600" y="46736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インプット3本とテーマ説明のあと、作るものを決める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219200" y="59182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午後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2514600" y="57658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開発。16:30 に中間発表（1組1分）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219200" y="70104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夕方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2514600" y="68580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開発を続け、18:45 にクロージング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9753600" y="2895600"/>
            <a:ext cx="731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DAY 2　10/11（日）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9753600" y="3505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提出・発表・表彰</a:t>
            </a:r>
            <a:endParaRPr b="1" sz="36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9753600" y="48260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午前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1049000" y="46736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開発。</a:t>
            </a: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14:00 に成果物の提出締切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9753600" y="59182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午後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11049000" y="57658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14:20 から最終発表（1組8分）、審査のあと 17:25 から表彰式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753600" y="7010400"/>
            <a:ext cx="1066800" cy="507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夕方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11049000" y="6858000"/>
            <a:ext cx="6019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18:00 から懇親会</a:t>
            </a: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（同じ会場）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会場は2日間ともキャンパスプラザ京都 5階。20:00 完全撤収です。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2438400" y="24892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438400" y="36576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2438400" y="48260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2438400" y="59944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2438400" y="71628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2438400" y="83312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11023600" y="24892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11023600" y="36576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1023600" y="48260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11023600" y="59944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11023600" y="71628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1023600" y="8331200"/>
            <a:ext cx="6553200" cy="10161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タイムテーブル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92" name="Google Shape;9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10:00 開始、19:00 解散です。20:00 に完全撤収します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94" name="Google Shape;9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11200" y="24892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9:30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2743200" y="25654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開場・受付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2743200" y="30226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名札を受け取って着席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11200" y="36576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10:00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2743200" y="37338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オープニング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2743200" y="41910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主催挨拶・テーマ・審査基準・賞の紹介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11200" y="48260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10:15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2743200" y="49022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インプット①②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2743200" y="53594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岩中さん・久田さん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11200" y="59944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10:50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2743200" y="5994400"/>
            <a:ext cx="60453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休憩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711200" y="71628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11:00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2743200" y="72390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インプット③・テーマ説明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2743200" y="76962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山本新・京都市・平井先生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11200" y="83312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11:40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2743200" y="8331200"/>
            <a:ext cx="60453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開発スタート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9296400" y="24892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12:00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11328400" y="25654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昼食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11328400" y="30226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お弁当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296400" y="36576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13:00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11328400" y="37338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開発タイム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11328400" y="41910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メンタリング随時。京都駅前の現地調査もOK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296400" y="48260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16:30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11328400" y="49022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中間発表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1328400" y="53594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1組1分・スライドなし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9296400" y="59944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17:00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11328400" y="60706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開発タイム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11328400" y="65278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18:45 まで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296400" y="71628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18:45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11328400" y="7162800"/>
            <a:ext cx="60453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Day 1 クロージング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296400" y="8331200"/>
            <a:ext cx="1574700" cy="10161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19:00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11328400" y="8407400"/>
            <a:ext cx="6045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解散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11328400" y="8864600"/>
            <a:ext cx="60453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20:00 完全撤収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7112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7112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92456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92456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会場と連絡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テーマ1の京都駅前へは歩いて行けます。現地調査も歓迎です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2286000" y="3149600"/>
            <a:ext cx="38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会場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2192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キャンパスプラザ京都 5階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219200" y="538480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第2〜第4演習室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9:30 開場／10:00 開始／20:00 完全撤収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54" name="Google Shape;154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36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 txBox="1"/>
          <p:nvPr/>
        </p:nvSpPr>
        <p:spPr>
          <a:xfrm>
            <a:off x="10820400" y="3149600"/>
            <a:ext cx="38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連絡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97536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Discord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9753600" y="538480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PLATEAU公式Discord内の本イベントのカテゴリ。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お知らせと運営への質問はここで受け付けます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まだ Discord に参加していない人は、運営に声をかけてください。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711200" y="24892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11200" y="66548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11200" y="3835400"/>
            <a:ext cx="39879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003800" y="24892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003800" y="66548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003800" y="3835400"/>
            <a:ext cx="39879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9296400" y="24892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9296400" y="66548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9296400" y="3835400"/>
            <a:ext cx="39879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3589000" y="24892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3589000" y="6654800"/>
            <a:ext cx="39879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3589000" y="3835400"/>
            <a:ext cx="39879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1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77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203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129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ファシリテーター・審査員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83" name="Google Shape;183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2日間の進行は岩中さん。最終発表は審査員3名が採点します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85" name="Google Shape;185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3081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ファシリテーター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6007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審査員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98933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審査員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499600" y="8636000"/>
            <a:ext cx="35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Day 2 の最終発表から</a:t>
            </a:r>
            <a:endParaRPr b="1" sz="20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41859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審査員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13792200" y="8636000"/>
            <a:ext cx="358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Day 2 の最終発表から</a:t>
            </a:r>
            <a:endParaRPr b="1" sz="20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787400" y="6223000"/>
            <a:ext cx="3835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岩中 宏充 さん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787400" y="6858000"/>
            <a:ext cx="3835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株式会社ワントゥーテン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テクニカルディレクター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080000" y="6223000"/>
            <a:ext cx="3835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平井 重行 さん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5080000" y="6858000"/>
            <a:ext cx="3835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京都産業大学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情報理工学部 教授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学長特命補佐・情報センター長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9372600" y="6223000"/>
            <a:ext cx="3835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Kula Takahashi さん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9372600" y="6858000"/>
            <a:ext cx="3835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ミックウェア スペイシア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チーフエンジニア／デザイナー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3665200" y="6223000"/>
            <a:ext cx="3835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魚谷 繁礼 さん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13665200" y="6858000"/>
            <a:ext cx="3835500" cy="16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建築家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魚谷繁礼建築研究所 代表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京都工芸繊維大学 特任教授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711200" y="24892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711200" y="54864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11200" y="3835400"/>
            <a:ext cx="54864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400800" y="24892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400800" y="54864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00800" y="3835400"/>
            <a:ext cx="54864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2090400" y="24892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12090400" y="5486400"/>
            <a:ext cx="54864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12090400" y="3835400"/>
            <a:ext cx="54864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4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40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63600" y="2844800"/>
            <a:ext cx="25400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メンター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PLATEAU のデータや開発で困ったら、メンターに相談できます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20574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ハッカソン運営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914400" y="6223000"/>
            <a:ext cx="5079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常名 隆司 さん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914400" y="6883400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Project PLATEAU ADVOCATE 2026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7470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3D・デジタルツイン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6604000" y="6223000"/>
            <a:ext cx="5079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久田 智之 さん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6604000" y="6883400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株式会社アナザーブレイン 代表取締役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Project PLATEAU ADVOCATE 2026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3436600" y="5588000"/>
            <a:ext cx="2793900" cy="4827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GIS・衛星データ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12293600" y="6223000"/>
            <a:ext cx="50799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ぴっかりん さん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2293600" y="6883400"/>
            <a:ext cx="5079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株式会社パスコ／OSGeo日本支部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Project PLATEAU ADVOCATE 2026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メンタリングの時間割はありません。困ったら、いつでも声をかけてください。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/>
          <p:nvPr/>
        </p:nvSpPr>
        <p:spPr>
          <a:xfrm>
            <a:off x="7112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112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112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4008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4008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4008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120904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20904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120904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965200" y="2794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このあと、テーマ1・2は京都市、テーマ3は平井先生が説明します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59" name="Google Shape;25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/>
        </p:nvSpPr>
        <p:spPr>
          <a:xfrm>
            <a:off x="2032000" y="2997200"/>
            <a:ext cx="355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テーマ1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1066800" y="3937000"/>
            <a:ext cx="467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京都駅前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066800" y="5308600"/>
            <a:ext cx="46737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会場から歩いて行ける京都駅前が舞台。詳細な建物モデル（LOD3）があり、京都市も駅前の再生に取り組んでいます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63" name="Google Shape;26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64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 txBox="1"/>
          <p:nvPr/>
        </p:nvSpPr>
        <p:spPr>
          <a:xfrm>
            <a:off x="7721600" y="2997200"/>
            <a:ext cx="355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テーマ2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6756400" y="3937000"/>
            <a:ext cx="467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京都のまちの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物理的特徴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6756400" y="5308600"/>
            <a:ext cx="46737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碁盤の目、一方通行、木造家屋の密集、三山と川に囲まれた地形などの「かたち」。建物の構造・用途・築年数といった属性情報を活かせます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67" name="Google Shape;26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460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 txBox="1"/>
          <p:nvPr/>
        </p:nvSpPr>
        <p:spPr>
          <a:xfrm>
            <a:off x="13411200" y="2997200"/>
            <a:ext cx="3555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テーマ3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12446000" y="3937000"/>
            <a:ext cx="4673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PLATEAU×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オープンデータ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2446000" y="5308600"/>
            <a:ext cx="46737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3D都市モデルに別のデータを掛け合わせる。地図や京都以外のデータでも構いません。ほしいデータがなければ、</a:t>
            </a: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AIでデモ用に作っても構いません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71" name="Google Shape;271;p11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どのテーマにも当てはまらないアイデアも歓迎です。テーマを選ぶのは当日でも構いません。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72" name="Google Shape;27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112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92456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965200" y="2794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審査基準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87" name="Google Shape;28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審査員3名がそれぞれ採点します（1人20点満点）。AIコーディングツールの利用は減点しません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91" name="Google Shape;291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2870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2"/>
          <p:cNvSpPr txBox="1"/>
          <p:nvPr/>
        </p:nvSpPr>
        <p:spPr>
          <a:xfrm>
            <a:off x="2082800" y="2819400"/>
            <a:ext cx="4826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着眼点・アイデア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7467600" y="2946400"/>
            <a:ext cx="12192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4" name="Google Shape;294;p12"/>
          <p:cNvSpPr txBox="1"/>
          <p:nvPr/>
        </p:nvSpPr>
        <p:spPr>
          <a:xfrm>
            <a:off x="2082800" y="37846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テーマや京都のまちへの着眼が的を射ているか。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発想に独自性があるか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95" name="Google Shape;29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77400" y="2870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 txBox="1"/>
          <p:nvPr/>
        </p:nvSpPr>
        <p:spPr>
          <a:xfrm>
            <a:off x="10617200" y="2819400"/>
            <a:ext cx="4826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技術完成度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6002000" y="2946400"/>
            <a:ext cx="12192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98" name="Google Shape;298;p12"/>
          <p:cNvSpPr txBox="1"/>
          <p:nvPr/>
        </p:nvSpPr>
        <p:spPr>
          <a:xfrm>
            <a:off x="10617200" y="37846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2日間で動くものに仕上がっているか。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デモが実際に動くか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99" name="Google Shape;299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000" y="57658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 txBox="1"/>
          <p:nvPr/>
        </p:nvSpPr>
        <p:spPr>
          <a:xfrm>
            <a:off x="2082800" y="5715000"/>
            <a:ext cx="4826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データ活用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7467600" y="5842000"/>
            <a:ext cx="12192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2082800" y="66802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3D都市モデル・属性情報・オープンデータを作品の中心で使えているか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03" name="Google Shape;303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77400" y="57658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2"/>
          <p:cNvSpPr txBox="1"/>
          <p:nvPr/>
        </p:nvSpPr>
        <p:spPr>
          <a:xfrm>
            <a:off x="10617200" y="5715000"/>
            <a:ext cx="4826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プレゼン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16002000" y="5842000"/>
            <a:ext cx="12192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5点</a:t>
            </a:r>
            <a:endParaRPr b="1" sz="2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10617200" y="6680200"/>
            <a:ext cx="655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狙いと作ったものが伝わるか。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デモを効果的に見せられているか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Unity・Web系のどちらでも、同じ基準で評価します。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08" name="Google Shape;308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/>
          <p:nvPr/>
        </p:nvSpPr>
        <p:spPr>
          <a:xfrm>
            <a:off x="7035800" y="24892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7035800" y="30988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7035800" y="3835400"/>
            <a:ext cx="51561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12420600" y="24892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12420600" y="30988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12420600" y="3835400"/>
            <a:ext cx="51561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035800" y="60452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7035800" y="66548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7035800" y="7391400"/>
            <a:ext cx="51561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12420600" y="60452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12420600" y="6654800"/>
            <a:ext cx="51561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12420600" y="7391400"/>
            <a:ext cx="51561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711200" y="24892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711200" y="66548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711200" y="3835400"/>
            <a:ext cx="5969100" cy="41655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965200" y="279400"/>
            <a:ext cx="1143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賞の紹介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32" name="Google Shape;3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10/11（日）の表彰式で発表します。参加者の投票で選ぶオーディエンス賞もあります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5" name="Google Shape;335;p13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36" name="Google Shape;3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9200" y="299720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"/>
          <p:cNvSpPr txBox="1"/>
          <p:nvPr/>
        </p:nvSpPr>
        <p:spPr>
          <a:xfrm>
            <a:off x="1219200" y="4394200"/>
            <a:ext cx="4953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グランプリ</a:t>
            </a:r>
            <a:endParaRPr b="1" sz="3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1219200" y="52324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3万円</a:t>
            </a:r>
            <a:endParaRPr b="1" sz="96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1219200" y="7569200"/>
            <a:ext cx="4953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最も優れた作品に贈ります。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1チーム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40" name="Google Shape;34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1400" y="2870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3"/>
          <p:cNvSpPr txBox="1"/>
          <p:nvPr/>
        </p:nvSpPr>
        <p:spPr>
          <a:xfrm>
            <a:off x="7391400" y="3810000"/>
            <a:ext cx="4445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ミックウェア スペイシア</a:t>
            </a: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賞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7391400" y="4597400"/>
            <a:ext cx="4445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ミックウェア スペイシア</a:t>
            </a: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が選定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43" name="Google Shape;34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76200" y="2870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3"/>
          <p:cNvSpPr txBox="1"/>
          <p:nvPr/>
        </p:nvSpPr>
        <p:spPr>
          <a:xfrm>
            <a:off x="12776200" y="3810000"/>
            <a:ext cx="4445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サギタリウス賞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5" name="Google Shape;345;p13"/>
          <p:cNvSpPr txBox="1"/>
          <p:nvPr/>
        </p:nvSpPr>
        <p:spPr>
          <a:xfrm>
            <a:off x="12776200" y="4597400"/>
            <a:ext cx="4445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京都産業大学が選定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46" name="Google Shape;34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1400" y="6426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 txBox="1"/>
          <p:nvPr/>
        </p:nvSpPr>
        <p:spPr>
          <a:xfrm>
            <a:off x="7391400" y="7366000"/>
            <a:ext cx="4445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京都市賞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7391400" y="8153400"/>
            <a:ext cx="4445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京都市が選定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49" name="Google Shape;34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776200" y="64262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3"/>
          <p:cNvSpPr txBox="1"/>
          <p:nvPr/>
        </p:nvSpPr>
        <p:spPr>
          <a:xfrm>
            <a:off x="12776200" y="7366000"/>
            <a:ext cx="44451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オーディエンス賞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12776200" y="8153400"/>
            <a:ext cx="46989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参加者の投票で選ぶ「すごいチーム」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52" name="Google Shape;35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711200" y="665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711200" y="3835400"/>
            <a:ext cx="83313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9245600" y="665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"/>
          <p:cNvSpPr/>
          <p:nvPr/>
        </p:nvSpPr>
        <p:spPr>
          <a:xfrm>
            <a:off x="9245600" y="3835400"/>
            <a:ext cx="8331300" cy="41655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提出と最終発表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67" name="Google Shape;3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4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10/11（日）</a:t>
            </a: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14:00 に提出、14:20 から最終発表</a:t>
            </a: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です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69" name="Google Shape;3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4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72" name="Google Shape;3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4"/>
          <p:cNvSpPr txBox="1"/>
          <p:nvPr/>
        </p:nvSpPr>
        <p:spPr>
          <a:xfrm>
            <a:off x="2286000" y="3149600"/>
            <a:ext cx="609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提出締切　10/11（日）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4" name="Google Shape;374;p14"/>
          <p:cNvSpPr txBox="1"/>
          <p:nvPr/>
        </p:nvSpPr>
        <p:spPr>
          <a:xfrm>
            <a:off x="1219200" y="4013200"/>
            <a:ext cx="73152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14:00</a:t>
            </a:r>
            <a:endParaRPr b="1" sz="110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1219200" y="6299200"/>
            <a:ext cx="73152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CraftStadium の本イベントのページから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提出します。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提出フォームの項目は、このあと説明します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76" name="Google Shape;376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36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 txBox="1"/>
          <p:nvPr/>
        </p:nvSpPr>
        <p:spPr>
          <a:xfrm>
            <a:off x="10820400" y="3149600"/>
            <a:ext cx="609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最終発表　10/11</a:t>
            </a: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（日）14:20〜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8" name="Google Shape;378;p14"/>
          <p:cNvSpPr txBox="1"/>
          <p:nvPr/>
        </p:nvSpPr>
        <p:spPr>
          <a:xfrm>
            <a:off x="9753600" y="4013200"/>
            <a:ext cx="38100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8分</a:t>
            </a:r>
            <a:endParaRPr b="1" sz="110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9" name="Google Shape;379;p14"/>
          <p:cNvSpPr txBox="1"/>
          <p:nvPr/>
        </p:nvSpPr>
        <p:spPr>
          <a:xfrm>
            <a:off x="13055600" y="4775200"/>
            <a:ext cx="38100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1組あたり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80" name="Google Shape;380;p14"/>
          <p:cNvSpPr txBox="1"/>
          <p:nvPr/>
        </p:nvSpPr>
        <p:spPr>
          <a:xfrm>
            <a:off x="9753600" y="6299200"/>
            <a:ext cx="73152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発表4分＋質疑3分＋転換1分（</a:t>
            </a: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チームもソロも同じ）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全組が発表。発表順は Day 2 にお知らせします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審査員から1人1問ずつ質問があります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7112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7112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92456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92456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GitHubの準備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96" name="Google Shape;3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5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チームごとにリポジトリを用意しています。午前中に2つ済ませてください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98" name="Google Shape;39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5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0" name="Google Shape;400;p15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01" name="Google Shape;40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5"/>
          <p:cNvSpPr txBox="1"/>
          <p:nvPr/>
        </p:nvSpPr>
        <p:spPr>
          <a:xfrm>
            <a:off x="2286000" y="3149600"/>
            <a:ext cx="38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STEP 1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3" name="Google Shape;403;p15"/>
          <p:cNvSpPr txBox="1"/>
          <p:nvPr/>
        </p:nvSpPr>
        <p:spPr>
          <a:xfrm>
            <a:off x="12192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GitHub を連携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4" name="Google Shape;404;p15"/>
          <p:cNvSpPr txBox="1"/>
          <p:nvPr/>
        </p:nvSpPr>
        <p:spPr>
          <a:xfrm>
            <a:off x="1219200" y="5384800"/>
            <a:ext cx="73152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CraftStadium の 設定 → 連携設定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→「GitHubアカウント」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craftstadium.com/settings/integrations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アカウントが無い人は先に作成（無料）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05" name="Google Shape;40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36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"/>
          <p:cNvSpPr txBox="1"/>
          <p:nvPr/>
        </p:nvSpPr>
        <p:spPr>
          <a:xfrm>
            <a:off x="10820400" y="3149600"/>
            <a:ext cx="381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STEP 2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7" name="Google Shape;407;p15"/>
          <p:cNvSpPr txBox="1"/>
          <p:nvPr/>
        </p:nvSpPr>
        <p:spPr>
          <a:xfrm>
            <a:off x="97536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招待を承認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8" name="Google Shape;408;p15"/>
          <p:cNvSpPr txBox="1"/>
          <p:nvPr/>
        </p:nvSpPr>
        <p:spPr>
          <a:xfrm>
            <a:off x="9753600" y="5384800"/>
            <a:ext cx="73152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GitHub に登録したメールに plateau-hack への招待が届きます（迷惑メールも確認）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見つからないとき：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github.com/orgs/plateau-hack/invitation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9" name="Google Shape;409;p15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連携した人から順に招待を送ります。届かないときは運営に声をかけてください。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6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7112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6"/>
          <p:cNvSpPr/>
          <p:nvPr/>
        </p:nvSpPr>
        <p:spPr>
          <a:xfrm>
            <a:off x="7112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6"/>
          <p:cNvSpPr/>
          <p:nvPr/>
        </p:nvSpPr>
        <p:spPr>
          <a:xfrm>
            <a:off x="9245600" y="538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6"/>
          <p:cNvSpPr/>
          <p:nvPr/>
        </p:nvSpPr>
        <p:spPr>
          <a:xfrm>
            <a:off x="9245600" y="3835400"/>
            <a:ext cx="83313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6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6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リポジトリと提出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25" name="Google Shape;4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6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コードはチームのリポジトリに push。提出は CraftStadium のフォームからです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27" name="Google Shape;42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6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29" name="Google Shape;429;p16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30" name="Google Shape;43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6"/>
          <p:cNvSpPr txBox="1"/>
          <p:nvPr/>
        </p:nvSpPr>
        <p:spPr>
          <a:xfrm>
            <a:off x="2286000" y="3149600"/>
            <a:ext cx="609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リポジトリ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2" name="Google Shape;432;p16"/>
          <p:cNvSpPr txBox="1"/>
          <p:nvPr/>
        </p:nvSpPr>
        <p:spPr>
          <a:xfrm>
            <a:off x="12192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kph2026-XX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3" name="Google Shape;433;p16"/>
          <p:cNvSpPr txBox="1"/>
          <p:nvPr/>
        </p:nvSpPr>
        <p:spPr>
          <a:xfrm>
            <a:off x="1219200" y="5384800"/>
            <a:ext cx="73152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参加者ページの「成果物」タブ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→「チームのGitHubリポジトリ」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README のテンプレートを埋めてください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閲覧はチーム・審査員・運営のみ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34" name="Google Shape;43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3600" y="29972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6"/>
          <p:cNvSpPr txBox="1"/>
          <p:nvPr/>
        </p:nvSpPr>
        <p:spPr>
          <a:xfrm>
            <a:off x="10820400" y="3149600"/>
            <a:ext cx="609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提出締切　10/11（日）14:00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6" name="Google Shape;436;p16"/>
          <p:cNvSpPr txBox="1"/>
          <p:nvPr/>
        </p:nvSpPr>
        <p:spPr>
          <a:xfrm>
            <a:off x="9753600" y="42672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提出フォーム</a:t>
            </a:r>
            <a:endParaRPr b="1" sz="3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7" name="Google Shape;437;p16"/>
          <p:cNvSpPr txBox="1"/>
          <p:nvPr/>
        </p:nvSpPr>
        <p:spPr>
          <a:xfrm>
            <a:off x="9753600" y="5384800"/>
            <a:ext cx="73152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作品名・説明・選んだテーマ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発表スライドのURL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使用したPLATEAUデータ・使用技術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GitHubリポジトリ・デモのURL（任意）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14:00 にリポジトリを読み取り専用にします。それ以降の push は反映されません。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5" name="Google Shape;445;p17"/>
          <p:cNvSpPr txBox="1"/>
          <p:nvPr/>
        </p:nvSpPr>
        <p:spPr>
          <a:xfrm>
            <a:off x="1219200" y="2413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INPUT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6" name="Google Shape;446;p17"/>
          <p:cNvSpPr/>
          <p:nvPr/>
        </p:nvSpPr>
        <p:spPr>
          <a:xfrm>
            <a:off x="1219200" y="3048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1219200" y="3302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午前のインプット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1219200" y="4953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10:15〜11:40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① ハッカソンとは（岩中さん）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② PLATEAUのデータとツール（久田さん）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③ アイデア発想とテーマ説明（山本新・京都市・平井先生）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49" name="Google Shape;449;p17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7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52" name="Google Shape;4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59" name="Google Shape;459;p18"/>
          <p:cNvSpPr txBox="1"/>
          <p:nvPr/>
        </p:nvSpPr>
        <p:spPr>
          <a:xfrm>
            <a:off x="1219200" y="2921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INPUT 01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219200" y="3556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1219200" y="3810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ハッカソンとは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2" name="Google Shape;462;p18"/>
          <p:cNvSpPr txBox="1"/>
          <p:nvPr/>
        </p:nvSpPr>
        <p:spPr>
          <a:xfrm>
            <a:off x="1219200" y="5461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株式会社ワントゥーテン　岩中 宏充 さん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4" name="Google Shape;4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66" name="Google Shape;46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1219200" y="2921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INPUT 02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1219200" y="3556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 txBox="1"/>
          <p:nvPr/>
        </p:nvSpPr>
        <p:spPr>
          <a:xfrm>
            <a:off x="1219200" y="3810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PLATEAUのデータとツール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1219200" y="5461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株式会社アナザーブレイン　久田 智之 さん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9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80" name="Google Shape;4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0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87" name="Google Shape;487;p20"/>
          <p:cNvSpPr txBox="1"/>
          <p:nvPr/>
        </p:nvSpPr>
        <p:spPr>
          <a:xfrm>
            <a:off x="1219200" y="2921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INPUT 03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1219200" y="3556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0"/>
          <p:cNvSpPr txBox="1"/>
          <p:nvPr/>
        </p:nvSpPr>
        <p:spPr>
          <a:xfrm>
            <a:off x="1219200" y="3810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アイデア発想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1219200" y="5461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株式会社CoPalette　山本 新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2" name="Google Shape;4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0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494" name="Google Shape;4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1"/>
          <p:cNvSpPr/>
          <p:nvPr/>
        </p:nvSpPr>
        <p:spPr>
          <a:xfrm>
            <a:off x="7112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1"/>
          <p:cNvSpPr/>
          <p:nvPr/>
        </p:nvSpPr>
        <p:spPr>
          <a:xfrm>
            <a:off x="7112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1"/>
          <p:cNvSpPr/>
          <p:nvPr/>
        </p:nvSpPr>
        <p:spPr>
          <a:xfrm>
            <a:off x="7112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64008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>
            <a:off x="64008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/>
          <p:nvPr/>
        </p:nvSpPr>
        <p:spPr>
          <a:xfrm>
            <a:off x="64008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1"/>
          <p:cNvSpPr/>
          <p:nvPr/>
        </p:nvSpPr>
        <p:spPr>
          <a:xfrm>
            <a:off x="120904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1"/>
          <p:cNvSpPr/>
          <p:nvPr/>
        </p:nvSpPr>
        <p:spPr>
          <a:xfrm>
            <a:off x="120904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120904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1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1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アイデア発想の進め方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13" name="Google Shape;5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1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課題から考えると、「誰のための作品か」がはっきりします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15" name="Google Shape;5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21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7" name="Google Shape;517;p21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11684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12分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19" name="Google Shape;519;p21"/>
          <p:cNvSpPr txBox="1"/>
          <p:nvPr/>
        </p:nvSpPr>
        <p:spPr>
          <a:xfrm>
            <a:off x="11684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課題を書き出す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0" name="Google Shape;520;p21"/>
          <p:cNvSpPr txBox="1"/>
          <p:nvPr/>
        </p:nvSpPr>
        <p:spPr>
          <a:xfrm>
            <a:off x="11684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課題発見シートに、京都で気になる課題を3つ以上。いちばん気になる1つを深掘りする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68580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8分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68580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周りの人と話す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3" name="Google Shape;523;p21"/>
          <p:cNvSpPr txBox="1"/>
          <p:nvPr/>
        </p:nvSpPr>
        <p:spPr>
          <a:xfrm>
            <a:off x="68580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チームの外の人とシートを見せ合う。新しい視点が見つかるかもしれません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125476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5分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125476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チームで1枚に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125476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チームで集まり、アイデアスケッチに作るものをまとめる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7" name="Google Shape;527;p21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テーマ説明のあと、このワークを25分で行います。シートは机に配ります。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2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4" name="Google Shape;534;p22"/>
          <p:cNvSpPr txBox="1"/>
          <p:nvPr/>
        </p:nvSpPr>
        <p:spPr>
          <a:xfrm>
            <a:off x="1219200" y="2921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THEME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219200" y="3556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 txBox="1"/>
          <p:nvPr/>
        </p:nvSpPr>
        <p:spPr>
          <a:xfrm>
            <a:off x="1219200" y="3810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テーマ説明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1219200" y="5461000"/>
            <a:ext cx="158751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テーマ1・2　京都市 都市計画局 まち再生・創造推進室　山本 貴仁 さん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テーマ3　京都産業大学　平井 重行 先生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2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41" name="Google Shape;5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"/>
          <p:cNvSpPr/>
          <p:nvPr/>
        </p:nvSpPr>
        <p:spPr>
          <a:xfrm>
            <a:off x="711200" y="24892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/>
          <p:nvPr/>
        </p:nvSpPr>
        <p:spPr>
          <a:xfrm>
            <a:off x="711200" y="53848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711200" y="3835400"/>
            <a:ext cx="5969100" cy="289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6908800" y="24892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6908800" y="53848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6908800" y="3835400"/>
            <a:ext cx="106680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アイデア発想ワーク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57" name="Google Shape;5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3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テーマ説明をふまえて、課題から作るものを考えます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59" name="Google Shape;5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62" name="Google Shape;56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3"/>
          <p:cNvSpPr txBox="1"/>
          <p:nvPr/>
        </p:nvSpPr>
        <p:spPr>
          <a:xfrm>
            <a:off x="1219200" y="43942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25分</a:t>
            </a:r>
            <a:endParaRPr b="1" sz="120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1219200" y="65532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終わったら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そのまま開発スタート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7416800" y="2946400"/>
            <a:ext cx="9651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この順で進めます</a:t>
            </a:r>
            <a:endParaRPr b="1" sz="26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7416800" y="411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8432800" y="401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個人ワーク（12分）　課題発見シート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7416800" y="538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8432800" y="528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周りの人と共有（8分）　チームの外の人と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416800" y="665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8432800" y="655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チームで集合（5分）　アイデアスケッチ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11:40 から開発スタートです。テーマ選びは今日中でも構いません。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/>
          <p:nvPr/>
        </p:nvSpPr>
        <p:spPr>
          <a:xfrm>
            <a:off x="7112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4"/>
          <p:cNvSpPr/>
          <p:nvPr/>
        </p:nvSpPr>
        <p:spPr>
          <a:xfrm>
            <a:off x="7112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>
            <a:off x="7112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4"/>
          <p:cNvSpPr/>
          <p:nvPr/>
        </p:nvSpPr>
        <p:spPr>
          <a:xfrm>
            <a:off x="64008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64008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>
            <a:off x="64008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120904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4"/>
          <p:cNvSpPr/>
          <p:nvPr/>
        </p:nvSpPr>
        <p:spPr>
          <a:xfrm>
            <a:off x="12090400" y="53848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4"/>
          <p:cNvSpPr/>
          <p:nvPr/>
        </p:nvSpPr>
        <p:spPr>
          <a:xfrm>
            <a:off x="12090400" y="3835400"/>
            <a:ext cx="53847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本日のゴール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91" name="Google Shape;5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4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今日の終わりまでに、作るものを1分で話せる状態にします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593" name="Google Shape;59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24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5" name="Google Shape;595;p24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11684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午前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7" name="Google Shape;597;p24"/>
          <p:cNvSpPr txBox="1"/>
          <p:nvPr/>
        </p:nvSpPr>
        <p:spPr>
          <a:xfrm>
            <a:off x="11684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テーマを知る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11684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インプット3本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（ハッカソン・PLATEAU・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アイデア発想）と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テーマ説明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68580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昼まで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0" name="Google Shape;600;p24"/>
          <p:cNvSpPr txBox="1"/>
          <p:nvPr/>
        </p:nvSpPr>
        <p:spPr>
          <a:xfrm>
            <a:off x="68580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作るものを決める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1" name="Google Shape;601;p24"/>
          <p:cNvSpPr txBox="1"/>
          <p:nvPr/>
        </p:nvSpPr>
        <p:spPr>
          <a:xfrm>
            <a:off x="68580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チームで、誰のために何を作るかを決める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12547600" y="2997200"/>
            <a:ext cx="1524000" cy="5589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夕方</a:t>
            </a:r>
            <a:endParaRPr b="1" sz="2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3" name="Google Shape;603;p24"/>
          <p:cNvSpPr txBox="1"/>
          <p:nvPr/>
        </p:nvSpPr>
        <p:spPr>
          <a:xfrm>
            <a:off x="12547600" y="3962400"/>
            <a:ext cx="447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1分で話せるように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4" name="Google Shape;604;p24"/>
          <p:cNvSpPr txBox="1"/>
          <p:nvPr/>
        </p:nvSpPr>
        <p:spPr>
          <a:xfrm>
            <a:off x="12547600" y="5029200"/>
            <a:ext cx="44703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16:30 の中間発表で、作るものを1分で説明する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何を作るか、誰のためにどうするか。ここが決まれば、</a:t>
            </a: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明日の14:00まで</a:t>
            </a: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に形にできます。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5"/>
          <p:cNvSpPr/>
          <p:nvPr/>
        </p:nvSpPr>
        <p:spPr>
          <a:xfrm>
            <a:off x="7112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12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12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5"/>
          <p:cNvSpPr/>
          <p:nvPr/>
        </p:nvSpPr>
        <p:spPr>
          <a:xfrm>
            <a:off x="64008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/>
          <p:nvPr/>
        </p:nvSpPr>
        <p:spPr>
          <a:xfrm>
            <a:off x="64008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5"/>
          <p:cNvSpPr/>
          <p:nvPr/>
        </p:nvSpPr>
        <p:spPr>
          <a:xfrm>
            <a:off x="64008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"/>
          <p:cNvSpPr/>
          <p:nvPr/>
        </p:nvSpPr>
        <p:spPr>
          <a:xfrm>
            <a:off x="12090400" y="24892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5"/>
          <p:cNvSpPr/>
          <p:nvPr/>
        </p:nvSpPr>
        <p:spPr>
          <a:xfrm>
            <a:off x="12090400" y="5486400"/>
            <a:ext cx="53847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12090400" y="3835400"/>
            <a:ext cx="5384700" cy="29973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5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5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開発ツールとデータ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24" name="Google Shape;6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5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使うツールは自由です。PLATEAU のデータは運営が用意しています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26" name="Google Shape;6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5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28" name="Google Shape;628;p25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29" name="Google Shape;62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8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5"/>
          <p:cNvSpPr txBox="1"/>
          <p:nvPr/>
        </p:nvSpPr>
        <p:spPr>
          <a:xfrm>
            <a:off x="2032000" y="29972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ツール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1" name="Google Shape;631;p25"/>
          <p:cNvSpPr txBox="1"/>
          <p:nvPr/>
        </p:nvSpPr>
        <p:spPr>
          <a:xfrm>
            <a:off x="1066800" y="3937000"/>
            <a:ext cx="467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限定しません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2" name="Google Shape;632;p25"/>
          <p:cNvSpPr txBox="1"/>
          <p:nvPr/>
        </p:nvSpPr>
        <p:spPr>
          <a:xfrm>
            <a:off x="1066800" y="4978400"/>
            <a:ext cx="46737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おすすめはWeb系と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AIコーディングツール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（Three.js・CesiumJS・MapLibre）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Unity＋PLATEAU SDKも使えます</a:t>
            </a:r>
            <a:endParaRPr b="1" sz="2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33" name="Google Shape;6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64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5"/>
          <p:cNvSpPr txBox="1"/>
          <p:nvPr/>
        </p:nvSpPr>
        <p:spPr>
          <a:xfrm>
            <a:off x="7721600" y="29972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PLATEAUデータ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5" name="Google Shape;635;p25"/>
          <p:cNvSpPr txBox="1"/>
          <p:nvPr/>
        </p:nvSpPr>
        <p:spPr>
          <a:xfrm>
            <a:off x="6756400" y="3937000"/>
            <a:ext cx="467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USBで配布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6" name="Google Shape;636;p25"/>
          <p:cNvSpPr txBox="1"/>
          <p:nvPr/>
        </p:nvSpPr>
        <p:spPr>
          <a:xfrm>
            <a:off x="6756400" y="4978400"/>
            <a:ext cx="46737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京都市の3D都市モデルを運営が用意しています。ダウンロード待ちを減らせます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37" name="Google Shape;63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46000" y="29210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5"/>
          <p:cNvSpPr txBox="1"/>
          <p:nvPr/>
        </p:nvSpPr>
        <p:spPr>
          <a:xfrm>
            <a:off x="13411200" y="29972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オープンデータ</a:t>
            </a:r>
            <a:endParaRPr b="1" sz="22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39" name="Google Shape;639;p25"/>
          <p:cNvSpPr txBox="1"/>
          <p:nvPr/>
        </p:nvSpPr>
        <p:spPr>
          <a:xfrm>
            <a:off x="12446000" y="3937000"/>
            <a:ext cx="467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組み合わせ候補</a:t>
            </a:r>
            <a:endParaRPr b="1" sz="30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40" name="Google Shape;640;p25"/>
          <p:cNvSpPr txBox="1"/>
          <p:nvPr/>
        </p:nvSpPr>
        <p:spPr>
          <a:xfrm>
            <a:off x="12446000" y="4978400"/>
            <a:ext cx="4673700" cy="29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テーマ3の組み合わせ候補を平井先生が一覧にまとめています。募集ページのテーマ3から開けます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41" name="Google Shape;641;p25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AIコーディングツールの利用は減点しません。2日間で動くものに仕上げてください。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6"/>
          <p:cNvSpPr/>
          <p:nvPr/>
        </p:nvSpPr>
        <p:spPr>
          <a:xfrm>
            <a:off x="7112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6"/>
          <p:cNvSpPr/>
          <p:nvPr/>
        </p:nvSpPr>
        <p:spPr>
          <a:xfrm>
            <a:off x="711200" y="3098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711200" y="3835400"/>
            <a:ext cx="83313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6"/>
          <p:cNvSpPr/>
          <p:nvPr/>
        </p:nvSpPr>
        <p:spPr>
          <a:xfrm>
            <a:off x="9245600" y="2489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/>
          <p:nvPr/>
        </p:nvSpPr>
        <p:spPr>
          <a:xfrm>
            <a:off x="9245600" y="3098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6"/>
          <p:cNvSpPr/>
          <p:nvPr/>
        </p:nvSpPr>
        <p:spPr>
          <a:xfrm>
            <a:off x="9245600" y="3835400"/>
            <a:ext cx="83313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6"/>
          <p:cNvSpPr/>
          <p:nvPr/>
        </p:nvSpPr>
        <p:spPr>
          <a:xfrm>
            <a:off x="711200" y="6045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6"/>
          <p:cNvSpPr/>
          <p:nvPr/>
        </p:nvSpPr>
        <p:spPr>
          <a:xfrm>
            <a:off x="711200" y="665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/>
          <p:nvPr/>
        </p:nvSpPr>
        <p:spPr>
          <a:xfrm>
            <a:off x="711200" y="7391400"/>
            <a:ext cx="83313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6"/>
          <p:cNvSpPr/>
          <p:nvPr/>
        </p:nvSpPr>
        <p:spPr>
          <a:xfrm>
            <a:off x="9245600" y="60452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6"/>
          <p:cNvSpPr/>
          <p:nvPr/>
        </p:nvSpPr>
        <p:spPr>
          <a:xfrm>
            <a:off x="9245600" y="6654800"/>
            <a:ext cx="83313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6"/>
          <p:cNvSpPr/>
          <p:nvPr/>
        </p:nvSpPr>
        <p:spPr>
          <a:xfrm>
            <a:off x="9245600" y="7391400"/>
            <a:ext cx="8331300" cy="609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6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6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注意事項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62" name="Google Shape;6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6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2日間、気持ちよく過ごすためのお願いです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64" name="Google Shape;6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6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66" name="Google Shape;666;p26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67" name="Google Shape;66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00" y="29210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6"/>
          <p:cNvSpPr txBox="1"/>
          <p:nvPr/>
        </p:nvSpPr>
        <p:spPr>
          <a:xfrm>
            <a:off x="2082800" y="2870200"/>
            <a:ext cx="6553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電源に限りがあります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69" name="Google Shape;669;p26"/>
          <p:cNvSpPr txBox="1"/>
          <p:nvPr/>
        </p:nvSpPr>
        <p:spPr>
          <a:xfrm>
            <a:off x="2082800" y="3835400"/>
            <a:ext cx="65532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スマホの充電は控えてください（充電はPCだけ）。3Dプリンターなど電力を使う機器は、使う前に運営に相談してください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70" name="Google Shape;67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77400" y="29210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6"/>
          <p:cNvSpPr txBox="1"/>
          <p:nvPr/>
        </p:nvSpPr>
        <p:spPr>
          <a:xfrm>
            <a:off x="10617200" y="2870200"/>
            <a:ext cx="6553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撮影NGの参加者がいます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72" name="Google Shape;672;p26"/>
          <p:cNvSpPr txBox="1"/>
          <p:nvPr/>
        </p:nvSpPr>
        <p:spPr>
          <a:xfrm>
            <a:off x="10617200" y="3835400"/>
            <a:ext cx="65532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SNSに投稿するときは、他の参加者の顔や他チームの画面が写らないようにしてください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73" name="Google Shape;673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3000" y="64770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6"/>
          <p:cNvSpPr txBox="1"/>
          <p:nvPr/>
        </p:nvSpPr>
        <p:spPr>
          <a:xfrm>
            <a:off x="2082800" y="6426200"/>
            <a:ext cx="6553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名札は備品です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75" name="Google Shape;675;p26"/>
          <p:cNvSpPr txBox="1"/>
          <p:nvPr/>
        </p:nvSpPr>
        <p:spPr>
          <a:xfrm>
            <a:off x="2082800" y="7391400"/>
            <a:ext cx="65532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2日目の終了後、受付に返してください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76" name="Google Shape;67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77400" y="6477000"/>
            <a:ext cx="7112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6"/>
          <p:cNvSpPr txBox="1"/>
          <p:nvPr/>
        </p:nvSpPr>
        <p:spPr>
          <a:xfrm>
            <a:off x="10617200" y="6426200"/>
            <a:ext cx="6553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20:00 完全撤収です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78" name="Google Shape;678;p26"/>
          <p:cNvSpPr txBox="1"/>
          <p:nvPr/>
        </p:nvSpPr>
        <p:spPr>
          <a:xfrm>
            <a:off x="10617200" y="7391400"/>
            <a:ext cx="65532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会場の利用は20:00までです。19:00 の解散後、速やかに退出してください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7"/>
          <p:cNvSpPr/>
          <p:nvPr/>
        </p:nvSpPr>
        <p:spPr>
          <a:xfrm>
            <a:off x="711200" y="24892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7"/>
          <p:cNvSpPr/>
          <p:nvPr/>
        </p:nvSpPr>
        <p:spPr>
          <a:xfrm>
            <a:off x="711200" y="53848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711200" y="3835400"/>
            <a:ext cx="5969100" cy="289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"/>
          <p:cNvSpPr/>
          <p:nvPr/>
        </p:nvSpPr>
        <p:spPr>
          <a:xfrm>
            <a:off x="6908800" y="24892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7"/>
          <p:cNvSpPr/>
          <p:nvPr/>
        </p:nvSpPr>
        <p:spPr>
          <a:xfrm>
            <a:off x="6908800" y="53848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7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7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昼食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93" name="Google Shape;69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7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お弁当を会場でお配りします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95" name="Google Shape;69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27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97" name="Google Shape;697;p27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698" name="Google Shape;69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7"/>
          <p:cNvSpPr txBox="1"/>
          <p:nvPr/>
        </p:nvSpPr>
        <p:spPr>
          <a:xfrm>
            <a:off x="1219200" y="4394200"/>
            <a:ext cx="49530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12:00</a:t>
            </a:r>
            <a:endParaRPr b="1" sz="110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0" name="Google Shape;700;p27"/>
          <p:cNvSpPr txBox="1"/>
          <p:nvPr/>
        </p:nvSpPr>
        <p:spPr>
          <a:xfrm>
            <a:off x="1219200" y="65532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〜 13:00　お弁当</a:t>
            </a:r>
            <a:endParaRPr b="1" sz="30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1" name="Google Shape;701;p27"/>
          <p:cNvSpPr txBox="1"/>
          <p:nvPr/>
        </p:nvSpPr>
        <p:spPr>
          <a:xfrm>
            <a:off x="7366000" y="2844800"/>
            <a:ext cx="975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今日のお弁当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2" name="Google Shape;702;p27"/>
          <p:cNvSpPr txBox="1"/>
          <p:nvPr/>
        </p:nvSpPr>
        <p:spPr>
          <a:xfrm>
            <a:off x="7366000" y="3632200"/>
            <a:ext cx="97536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1人1つずつお取りください。アレルギー・食事制限を申告した方は、取る前に運営に声をかけてください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3" name="Google Shape;703;p27"/>
          <p:cNvSpPr txBox="1"/>
          <p:nvPr/>
        </p:nvSpPr>
        <p:spPr>
          <a:xfrm>
            <a:off x="7366000" y="5740400"/>
            <a:ext cx="975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明日 10/11（日）の昼食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4" name="Google Shape;704;p27"/>
          <p:cNvSpPr txBox="1"/>
          <p:nvPr/>
        </p:nvSpPr>
        <p:spPr>
          <a:xfrm>
            <a:off x="7366000" y="6527800"/>
            <a:ext cx="97536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同じく 12:00〜13:00 にお弁当を用意しています。</a:t>
            </a: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14:00 が提出締切</a:t>
            </a:r>
            <a:r>
              <a:rPr b="1" lang="en-US" sz="2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です。食べる時間を逆算してください</a:t>
            </a:r>
            <a:endParaRPr b="1" sz="2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05" name="Google Shape;705;p27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13:00 から開発を再開します。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28"/>
          <p:cNvSpPr/>
          <p:nvPr/>
        </p:nvSpPr>
        <p:spPr>
          <a:xfrm>
            <a:off x="711200" y="24892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8"/>
          <p:cNvSpPr/>
          <p:nvPr/>
        </p:nvSpPr>
        <p:spPr>
          <a:xfrm>
            <a:off x="711200" y="5384800"/>
            <a:ext cx="5969100" cy="26925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8"/>
          <p:cNvSpPr/>
          <p:nvPr/>
        </p:nvSpPr>
        <p:spPr>
          <a:xfrm>
            <a:off x="711200" y="3835400"/>
            <a:ext cx="5969100" cy="2895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8"/>
          <p:cNvSpPr/>
          <p:nvPr/>
        </p:nvSpPr>
        <p:spPr>
          <a:xfrm>
            <a:off x="6908800" y="24892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6908800" y="5384800"/>
            <a:ext cx="10668000" cy="2692500"/>
          </a:xfrm>
          <a:prstGeom prst="roundRect">
            <a:avLst>
              <a:gd fmla="val 16667" name="adj"/>
            </a:avLst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8"/>
          <p:cNvSpPr/>
          <p:nvPr/>
        </p:nvSpPr>
        <p:spPr>
          <a:xfrm>
            <a:off x="6908800" y="3835400"/>
            <a:ext cx="10668000" cy="2895600"/>
          </a:xfrm>
          <a:prstGeom prst="rect">
            <a:avLst/>
          </a:prstGeom>
          <a:solidFill>
            <a:srgbClr val="E6EE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8"/>
          <p:cNvSpPr/>
          <p:nvPr/>
        </p:nvSpPr>
        <p:spPr>
          <a:xfrm>
            <a:off x="711200" y="8432800"/>
            <a:ext cx="16865700" cy="9144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0" y="0"/>
            <a:ext cx="18288000" cy="1320900"/>
          </a:xfrm>
          <a:prstGeom prst="rect">
            <a:avLst/>
          </a:prstGeom>
          <a:solidFill>
            <a:srgbClr val="F1F3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711200" y="381000"/>
            <a:ext cx="101700" cy="5589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8"/>
          <p:cNvSpPr txBox="1"/>
          <p:nvPr/>
        </p:nvSpPr>
        <p:spPr>
          <a:xfrm>
            <a:off x="965200" y="279400"/>
            <a:ext cx="1269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中間発表</a:t>
            </a:r>
            <a:endParaRPr b="1" sz="32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721" name="Google Shape;7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10955" y="469900"/>
            <a:ext cx="266469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8"/>
          <p:cNvSpPr txBox="1"/>
          <p:nvPr/>
        </p:nvSpPr>
        <p:spPr>
          <a:xfrm>
            <a:off x="711200" y="1625600"/>
            <a:ext cx="16890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16:30 から、1チーム1分で今の状況を話します</a:t>
            </a:r>
            <a:endParaRPr b="1" sz="2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723" name="Google Shape;72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00" y="96647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28"/>
          <p:cNvSpPr txBox="1"/>
          <p:nvPr/>
        </p:nvSpPr>
        <p:spPr>
          <a:xfrm>
            <a:off x="2514600" y="9677400"/>
            <a:ext cx="762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KYOTO PLATEAU HACK 2026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25" name="Google Shape;725;p28"/>
          <p:cNvSpPr txBox="1"/>
          <p:nvPr/>
        </p:nvSpPr>
        <p:spPr>
          <a:xfrm>
            <a:off x="13766800" y="9677400"/>
            <a:ext cx="3810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8A8A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600">
              <a:solidFill>
                <a:srgbClr val="8A8A8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726" name="Google Shape;72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200" y="2997200"/>
            <a:ext cx="10668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8"/>
          <p:cNvSpPr txBox="1"/>
          <p:nvPr/>
        </p:nvSpPr>
        <p:spPr>
          <a:xfrm>
            <a:off x="1219200" y="4394200"/>
            <a:ext cx="4953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1分</a:t>
            </a:r>
            <a:endParaRPr b="1" sz="120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28" name="Google Shape;728;p28"/>
          <p:cNvSpPr txBox="1"/>
          <p:nvPr/>
        </p:nvSpPr>
        <p:spPr>
          <a:xfrm>
            <a:off x="1219200" y="65532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1チームあたり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スライドなし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29" name="Google Shape;729;p28"/>
          <p:cNvSpPr txBox="1"/>
          <p:nvPr/>
        </p:nvSpPr>
        <p:spPr>
          <a:xfrm>
            <a:off x="7416800" y="2946400"/>
            <a:ext cx="96519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この3つを話してください</a:t>
            </a:r>
            <a:endParaRPr b="1" sz="26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7416800" y="411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1" name="Google Shape;731;p28"/>
          <p:cNvSpPr txBox="1"/>
          <p:nvPr/>
        </p:nvSpPr>
        <p:spPr>
          <a:xfrm>
            <a:off x="8432800" y="401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何を作るか（1文で）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2" name="Google Shape;732;p28"/>
          <p:cNvSpPr/>
          <p:nvPr/>
        </p:nvSpPr>
        <p:spPr>
          <a:xfrm>
            <a:off x="7416800" y="538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3" name="Google Shape;733;p28"/>
          <p:cNvSpPr txBox="1"/>
          <p:nvPr/>
        </p:nvSpPr>
        <p:spPr>
          <a:xfrm>
            <a:off x="8432800" y="528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誰のために、どう役立つか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7416800" y="6654800"/>
            <a:ext cx="711300" cy="711300"/>
          </a:xfrm>
          <a:prstGeom prst="roundRect">
            <a:avLst>
              <a:gd fmla="val 16667" name="adj"/>
            </a:avLst>
          </a:prstGeom>
          <a:solidFill>
            <a:srgbClr val="1F4E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 b="1" sz="26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5" name="Google Shape;735;p28"/>
          <p:cNvSpPr txBox="1"/>
          <p:nvPr/>
        </p:nvSpPr>
        <p:spPr>
          <a:xfrm>
            <a:off x="8432800" y="6553200"/>
            <a:ext cx="863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今どこまでできていて、何に困っているか</a:t>
            </a:r>
            <a:endParaRPr b="1" sz="28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36" name="Google Shape;736;p28"/>
          <p:cNvSpPr txBox="1"/>
          <p:nvPr/>
        </p:nvSpPr>
        <p:spPr>
          <a:xfrm>
            <a:off x="1066800" y="8432800"/>
            <a:ext cx="1625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困っていることを言ってもらえれば、メンターが声をかけに行きます。</a:t>
            </a:r>
            <a:endParaRPr b="1" sz="24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9"/>
          <p:cNvSpPr txBox="1"/>
          <p:nvPr/>
        </p:nvSpPr>
        <p:spPr>
          <a:xfrm>
            <a:off x="13766800" y="457200"/>
            <a:ext cx="3810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1｜10.10 SAT</a:t>
            </a:r>
            <a:endParaRPr b="1" sz="1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3" name="Google Shape;743;p29"/>
          <p:cNvSpPr txBox="1"/>
          <p:nvPr/>
        </p:nvSpPr>
        <p:spPr>
          <a:xfrm>
            <a:off x="1219200" y="2032000"/>
            <a:ext cx="1016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CLOSING</a:t>
            </a:r>
            <a:endParaRPr b="1" sz="2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1219200" y="2667000"/>
            <a:ext cx="914400" cy="1017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9"/>
          <p:cNvSpPr txBox="1"/>
          <p:nvPr/>
        </p:nvSpPr>
        <p:spPr>
          <a:xfrm>
            <a:off x="1219200" y="2921000"/>
            <a:ext cx="15875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Day 1 おつかれさまでした</a:t>
            </a:r>
            <a:endParaRPr b="1" sz="72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6" name="Google Shape;746;p29"/>
          <p:cNvSpPr txBox="1"/>
          <p:nvPr/>
        </p:nvSpPr>
        <p:spPr>
          <a:xfrm>
            <a:off x="1219200" y="4572000"/>
            <a:ext cx="15875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明日 10/11（日）は 9:30 開場、10:00 開始です。忘れ物にご注意ください。</a:t>
            </a:r>
            <a:endParaRPr b="1" sz="280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1219200" y="5969000"/>
            <a:ext cx="5079900" cy="254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9"/>
          <p:cNvSpPr txBox="1"/>
          <p:nvPr/>
        </p:nvSpPr>
        <p:spPr>
          <a:xfrm>
            <a:off x="1219200" y="6273800"/>
            <a:ext cx="5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10:00</a:t>
            </a:r>
            <a:endParaRPr b="1" sz="64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49" name="Google Shape;749;p29"/>
          <p:cNvSpPr txBox="1"/>
          <p:nvPr/>
        </p:nvSpPr>
        <p:spPr>
          <a:xfrm>
            <a:off x="1219200" y="7543800"/>
            <a:ext cx="5079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Day 2 開始・開発再開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6604000" y="5969000"/>
            <a:ext cx="5079900" cy="254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9"/>
          <p:cNvSpPr txBox="1"/>
          <p:nvPr/>
        </p:nvSpPr>
        <p:spPr>
          <a:xfrm>
            <a:off x="6604000" y="6273800"/>
            <a:ext cx="5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F39C12"/>
                </a:solidFill>
                <a:latin typeface="Noto Sans JP"/>
                <a:ea typeface="Noto Sans JP"/>
                <a:cs typeface="Noto Sans JP"/>
                <a:sym typeface="Noto Sans JP"/>
              </a:rPr>
              <a:t>14:00</a:t>
            </a:r>
            <a:endParaRPr b="1" sz="6400">
              <a:solidFill>
                <a:srgbClr val="F39C12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2" name="Google Shape;752;p29"/>
          <p:cNvSpPr txBox="1"/>
          <p:nvPr/>
        </p:nvSpPr>
        <p:spPr>
          <a:xfrm>
            <a:off x="6604000" y="7543800"/>
            <a:ext cx="5079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成果物の提出締切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11988800" y="5969000"/>
            <a:ext cx="5079900" cy="254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"/>
          <p:cNvSpPr txBox="1"/>
          <p:nvPr/>
        </p:nvSpPr>
        <p:spPr>
          <a:xfrm>
            <a:off x="11988800" y="6273800"/>
            <a:ext cx="5079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1F4E79"/>
                </a:solidFill>
                <a:latin typeface="Noto Sans JP"/>
                <a:ea typeface="Noto Sans JP"/>
                <a:cs typeface="Noto Sans JP"/>
                <a:sym typeface="Noto Sans JP"/>
              </a:rPr>
              <a:t>14:20</a:t>
            </a:r>
            <a:endParaRPr b="1" sz="6400">
              <a:solidFill>
                <a:srgbClr val="1F4E79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5" name="Google Shape;755;p29"/>
          <p:cNvSpPr txBox="1"/>
          <p:nvPr/>
        </p:nvSpPr>
        <p:spPr>
          <a:xfrm>
            <a:off x="11988800" y="7543800"/>
            <a:ext cx="50799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最終発表（</a:t>
            </a: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1組8分</a:t>
            </a:r>
            <a:r>
              <a:rPr b="1" lang="en-US" sz="24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）</a:t>
            </a:r>
            <a:endParaRPr b="1" sz="24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0" y="9271000"/>
            <a:ext cx="18288000" cy="101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7" name="Google Shape;7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00" y="9601222"/>
            <a:ext cx="1604010" cy="35555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9"/>
          <p:cNvSpPr txBox="1"/>
          <p:nvPr/>
        </p:nvSpPr>
        <p:spPr>
          <a:xfrm>
            <a:off x="2616200" y="9575800"/>
            <a:ext cx="1193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A1A1A"/>
                </a:solidFill>
                <a:latin typeface="Noto Sans JP"/>
                <a:ea typeface="Noto Sans JP"/>
                <a:cs typeface="Noto Sans JP"/>
                <a:sym typeface="Noto Sans JP"/>
              </a:rPr>
              <a:t>主催 京都産業大学　｜　後援 京都市　｜　協力 株式会社ミックウェア スペイシア・国土交通省・CraftStadium</a:t>
            </a:r>
            <a:endParaRPr b="1" sz="1600">
              <a:solidFill>
                <a:srgbClr val="1A1A1A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759" name="Google Shape;7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0955" y="9588500"/>
            <a:ext cx="266469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